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2" r:id="rId17"/>
    <p:sldId id="274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8" autoAdjust="0"/>
    <p:restoredTop sz="85024" autoAdjust="0"/>
  </p:normalViewPr>
  <p:slideViewPr>
    <p:cSldViewPr snapToGrid="0" snapToObjects="1">
      <p:cViewPr varScale="1">
        <p:scale>
          <a:sx n="121" d="100"/>
          <a:sy n="121" d="100"/>
        </p:scale>
        <p:origin x="1052" y="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286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433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7252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0" b="1" dirty="0">
                <a:solidFill>
                  <a:srgbClr val="1E2761"/>
                </a:solidFill>
              </a:rPr>
              <a:t>"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reading</a:t>
            </a:r>
            <a:endParaRPr lang="en-US" sz="4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 help</a:t>
            </a:r>
            <a:endParaRPr lang="en-US" sz="4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beat</a:t>
            </a:r>
            <a:endParaRPr lang="en-US" sz="4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217920" y="914400"/>
            <a:ext cx="2651760" cy="1371600"/>
          </a:xfrm>
          <a:prstGeom prst="rect">
            <a:avLst/>
          </a:prstGeom>
          <a:solidFill>
            <a:srgbClr val="1E2761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</a:rPr>
              <a:t>📱 Tech (XLK)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0" y="14173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8D8F0"/>
                </a:solidFill>
              </a:rPr>
              <a:t>Event-driven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8D8F0"/>
                </a:solidFill>
              </a:rPr>
              <a:t>Earnings · AI · Regulation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468880"/>
            <a:ext cx="2651760" cy="1371600"/>
          </a:xfrm>
          <a:prstGeom prst="rect">
            <a:avLst/>
          </a:prstGeom>
          <a:solidFill>
            <a:srgbClr val="1E2761"/>
          </a:solidFill>
          <a:ln w="254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B429"/>
                </a:solidFill>
              </a:rPr>
              <a:t>🏦 Finance (XLF)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2971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8D8F0"/>
                </a:solidFill>
              </a:rPr>
              <a:t>Macro-driven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8D8F0"/>
                </a:solidFill>
              </a:rPr>
              <a:t>Rates · Cycles · Policy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B8"/>
                </a:solidFill>
              </a:rPr>
              <a:t>5 years · 1,010 trading days · NYT news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-27860" y="0"/>
            <a:ext cx="9144000" cy="51435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Why Does News Move Stock Prices?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600" i="1" dirty="0">
                <a:solidFill>
                  <a:srgbClr val="C8D8F0"/>
                </a:solidFill>
                <a:latin typeface="Calibri"/>
              </a:rPr>
              <a:t>Grounding the model in investor behaviour theory (Fishbein &amp; Ajzen, 1975)</a:t>
            </a:r>
          </a:p>
        </p:txBody>
      </p:sp>
      <p:sp>
        <p:nvSpPr>
          <p:cNvPr id="5" name="b1"/>
          <p:cNvSpPr/>
          <p:nvPr/>
        </p:nvSpPr>
        <p:spPr>
          <a:xfrm>
            <a:off x="274320" y="1214949"/>
            <a:ext cx="1248464" cy="731520"/>
          </a:xfrm>
          <a:prstGeom prst="rect">
            <a:avLst/>
          </a:prstGeom>
          <a:solidFill>
            <a:srgbClr val="1E2761"/>
          </a:solidFill>
          <a:ln w="19050">
            <a:solidFill>
              <a:srgbClr val="06B6D4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6B6D4"/>
                </a:solidFill>
                <a:latin typeface="Calibri"/>
              </a:rPr>
              <a:t>AWARENESS</a:t>
            </a:r>
          </a:p>
          <a:p>
            <a:pPr algn="ctr"/>
            <a:r>
              <a:rPr lang="en-US" sz="1100" dirty="0">
                <a:solidFill>
                  <a:srgbClr val="C8D8F0"/>
                </a:solidFill>
                <a:latin typeface="Calibri"/>
              </a:rPr>
              <a:t>NYT news article published</a:t>
            </a:r>
          </a:p>
        </p:txBody>
      </p:sp>
      <p:sp>
        <p:nvSpPr>
          <p:cNvPr id="6" name="arr1"/>
          <p:cNvSpPr/>
          <p:nvPr/>
        </p:nvSpPr>
        <p:spPr>
          <a:xfrm>
            <a:off x="1572942" y="1476703"/>
            <a:ext cx="320040" cy="18288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400" dirty="0">
                <a:solidFill>
                  <a:srgbClr val="F0B429"/>
                </a:solidFill>
                <a:latin typeface="Calibri"/>
              </a:rPr>
              <a:t>→</a:t>
            </a:r>
          </a:p>
        </p:txBody>
      </p:sp>
      <p:sp>
        <p:nvSpPr>
          <p:cNvPr id="7" name="b2"/>
          <p:cNvSpPr/>
          <p:nvPr/>
        </p:nvSpPr>
        <p:spPr>
          <a:xfrm>
            <a:off x="2000250" y="1206287"/>
            <a:ext cx="1118937" cy="731520"/>
          </a:xfrm>
          <a:prstGeom prst="rect">
            <a:avLst/>
          </a:prstGeom>
          <a:solidFill>
            <a:srgbClr val="1E2761"/>
          </a:solidFill>
          <a:ln w="19050">
            <a:solidFill>
              <a:srgbClr val="06B6D4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6B6D4"/>
                </a:solidFill>
                <a:latin typeface="Calibri"/>
              </a:rPr>
              <a:t>PERCEPTION</a:t>
            </a:r>
          </a:p>
          <a:p>
            <a:pPr algn="ctr"/>
            <a:r>
              <a:rPr lang="en-US" sz="1100" dirty="0">
                <a:solidFill>
                  <a:srgbClr val="C8D8F0"/>
                </a:solidFill>
                <a:latin typeface="Calibri"/>
              </a:rPr>
              <a:t>Investor reads and interprets</a:t>
            </a:r>
          </a:p>
        </p:txBody>
      </p:sp>
      <p:sp>
        <p:nvSpPr>
          <p:cNvPr id="8" name="arr2"/>
          <p:cNvSpPr/>
          <p:nvPr/>
        </p:nvSpPr>
        <p:spPr>
          <a:xfrm>
            <a:off x="3214443" y="1494857"/>
            <a:ext cx="320040" cy="18288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400" dirty="0">
                <a:solidFill>
                  <a:srgbClr val="F0B429"/>
                </a:solidFill>
                <a:latin typeface="Calibri"/>
              </a:rPr>
              <a:t>→</a:t>
            </a:r>
          </a:p>
        </p:txBody>
      </p:sp>
      <p:sp>
        <p:nvSpPr>
          <p:cNvPr id="9" name="b3"/>
          <p:cNvSpPr/>
          <p:nvPr/>
        </p:nvSpPr>
        <p:spPr>
          <a:xfrm>
            <a:off x="3629740" y="1097280"/>
            <a:ext cx="1828800" cy="914400"/>
          </a:xfrm>
          <a:prstGeom prst="rect">
            <a:avLst/>
          </a:prstGeom>
          <a:solidFill>
            <a:srgbClr val="2D4A8A"/>
          </a:solidFill>
          <a:ln w="38100">
            <a:solidFill>
              <a:srgbClr val="F0B429"/>
            </a:solidFill>
          </a:ln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F0B429"/>
                </a:solidFill>
                <a:latin typeface="Calibri"/>
              </a:rPr>
              <a:t>ATTITUDE</a:t>
            </a:r>
          </a:p>
          <a:p>
            <a:pPr algn="ctr"/>
            <a:r>
              <a:rPr lang="en-US" sz="1100" b="1" dirty="0">
                <a:solidFill>
                  <a:srgbClr val="F0B429"/>
                </a:solidFill>
                <a:latin typeface="Calibri"/>
              </a:rPr>
              <a:t>= Sentiment Score</a:t>
            </a:r>
          </a:p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Bullish or Bearish?</a:t>
            </a:r>
          </a:p>
        </p:txBody>
      </p:sp>
      <p:sp>
        <p:nvSpPr>
          <p:cNvPr id="10" name="arr3"/>
          <p:cNvSpPr/>
          <p:nvPr/>
        </p:nvSpPr>
        <p:spPr>
          <a:xfrm>
            <a:off x="7133710" y="1490953"/>
            <a:ext cx="320040" cy="18288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400" dirty="0">
                <a:solidFill>
                  <a:srgbClr val="F0B429"/>
                </a:solidFill>
                <a:latin typeface="Calibri"/>
              </a:rPr>
              <a:t>→</a:t>
            </a:r>
          </a:p>
        </p:txBody>
      </p:sp>
      <p:sp>
        <p:nvSpPr>
          <p:cNvPr id="11" name="b4"/>
          <p:cNvSpPr/>
          <p:nvPr/>
        </p:nvSpPr>
        <p:spPr>
          <a:xfrm>
            <a:off x="5885848" y="1206287"/>
            <a:ext cx="1140594" cy="731520"/>
          </a:xfrm>
          <a:prstGeom prst="rect">
            <a:avLst/>
          </a:prstGeom>
          <a:solidFill>
            <a:srgbClr val="1E2761"/>
          </a:solidFill>
          <a:ln w="19050">
            <a:solidFill>
              <a:srgbClr val="06B6D4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6B6D4"/>
                </a:solidFill>
                <a:latin typeface="Calibri"/>
              </a:rPr>
              <a:t>INTENTION</a:t>
            </a:r>
          </a:p>
          <a:p>
            <a:pPr algn="ctr"/>
            <a:r>
              <a:rPr lang="en-US" sz="1100" dirty="0">
                <a:solidFill>
                  <a:srgbClr val="C8D8F0"/>
                </a:solidFill>
                <a:latin typeface="Calibri"/>
              </a:rPr>
              <a:t>Decision to buy or sell</a:t>
            </a:r>
          </a:p>
        </p:txBody>
      </p:sp>
      <p:sp>
        <p:nvSpPr>
          <p:cNvPr id="12" name="b5"/>
          <p:cNvSpPr/>
          <p:nvPr/>
        </p:nvSpPr>
        <p:spPr>
          <a:xfrm>
            <a:off x="7553800" y="1216633"/>
            <a:ext cx="1315400" cy="731520"/>
          </a:xfrm>
          <a:prstGeom prst="rect">
            <a:avLst/>
          </a:prstGeom>
          <a:solidFill>
            <a:srgbClr val="1E4D2B"/>
          </a:solidFill>
          <a:ln w="19050">
            <a:solidFill>
              <a:srgbClr val="22C55E"/>
            </a:solidFill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22C55E"/>
                </a:solidFill>
                <a:latin typeface="Calibri"/>
              </a:rPr>
              <a:t>BEHAVIOUR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Calibri"/>
              </a:rPr>
              <a:t>Stock price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Calibri"/>
              </a:rPr>
              <a:t>direction ↑↓</a:t>
            </a:r>
          </a:p>
        </p:txBody>
      </p:sp>
      <p:sp>
        <p:nvSpPr>
          <p:cNvPr id="13" name="div"/>
          <p:cNvSpPr/>
          <p:nvPr/>
        </p:nvSpPr>
        <p:spPr>
          <a:xfrm>
            <a:off x="274320" y="2285760"/>
            <a:ext cx="8594640" cy="3810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xlkbox"/>
          <p:cNvSpPr/>
          <p:nvPr/>
        </p:nvSpPr>
        <p:spPr>
          <a:xfrm>
            <a:off x="274320" y="2400840"/>
            <a:ext cx="4068600" cy="2194560"/>
          </a:xfrm>
          <a:prstGeom prst="rect">
            <a:avLst/>
          </a:prstGeom>
          <a:solidFill>
            <a:srgbClr val="122B1E"/>
          </a:solidFill>
          <a:ln w="19050">
            <a:solidFill>
              <a:srgbClr val="22C55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xlktxt"/>
          <p:cNvSpPr/>
          <p:nvPr/>
        </p:nvSpPr>
        <p:spPr>
          <a:xfrm>
            <a:off x="365760" y="2468880"/>
            <a:ext cx="3886200" cy="20574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1600" b="1" dirty="0">
                <a:solidFill>
                  <a:srgbClr val="22C55E"/>
                </a:solidFill>
                <a:latin typeface="Calibri"/>
              </a:rPr>
              <a:t>📱 XLK — Technology (Retail-driven)</a:t>
            </a:r>
          </a:p>
          <a:p>
            <a:r>
              <a:rPr lang="en-US" sz="1200" dirty="0">
                <a:solidFill>
                  <a:srgbClr val="C8D8F0"/>
                </a:solidFill>
                <a:latin typeface="Calibri"/>
              </a:rPr>
              <a:t>Retail investors need days to read,</a:t>
            </a:r>
          </a:p>
          <a:p>
            <a:r>
              <a:rPr lang="en-US" sz="1200" dirty="0">
                <a:solidFill>
                  <a:srgbClr val="C8D8F0"/>
                </a:solidFill>
                <a:latin typeface="Calibri"/>
              </a:rPr>
              <a:t>process and act on news.</a:t>
            </a:r>
          </a:p>
          <a:p>
            <a:r>
              <a:rPr lang="en-US" sz="1200" dirty="0">
                <a:solidFill>
                  <a:srgbClr val="C8D8F0"/>
                </a:solidFill>
                <a:latin typeface="Calibri"/>
              </a:rPr>
              <a:t>Attitude → Behaviour lag: 1–4 days</a:t>
            </a:r>
          </a:p>
          <a:p>
            <a:endParaRPr lang="en-US" sz="1200" dirty="0">
              <a:solidFill>
                <a:srgbClr val="C8D8F0"/>
              </a:solidFill>
              <a:latin typeface="Calibri"/>
            </a:endParaRPr>
          </a:p>
          <a:p>
            <a:endParaRPr lang="en-US" sz="1200" dirty="0">
              <a:solidFill>
                <a:srgbClr val="C8D8F0"/>
              </a:solidFill>
              <a:latin typeface="Calibri"/>
            </a:endParaRPr>
          </a:p>
          <a:p>
            <a:r>
              <a:rPr lang="en-US" sz="1300" b="1" dirty="0">
                <a:solidFill>
                  <a:srgbClr val="22C55E"/>
                </a:solidFill>
                <a:latin typeface="Calibri"/>
              </a:rPr>
              <a:t>✔ Predictable window exists</a:t>
            </a:r>
          </a:p>
          <a:p>
            <a:r>
              <a:rPr lang="en-US" sz="1200" dirty="0">
                <a:solidFill>
                  <a:srgbClr val="8A9BB8"/>
                </a:solidFill>
                <a:latin typeface="Calibri"/>
              </a:rPr>
              <a:t>Granger: 6 features significant (lags 1–4d)</a:t>
            </a:r>
          </a:p>
        </p:txBody>
      </p:sp>
      <p:sp>
        <p:nvSpPr>
          <p:cNvPr id="16" name="xlfbox"/>
          <p:cNvSpPr/>
          <p:nvPr/>
        </p:nvSpPr>
        <p:spPr>
          <a:xfrm>
            <a:off x="4800600" y="2400840"/>
            <a:ext cx="4068600" cy="2194560"/>
          </a:xfrm>
          <a:prstGeom prst="rect">
            <a:avLst/>
          </a:prstGeom>
          <a:solidFill>
            <a:srgbClr val="2B1010"/>
          </a:solidFill>
          <a:ln w="19050">
            <a:solidFill>
              <a:srgbClr val="EF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xlftxt"/>
          <p:cNvSpPr/>
          <p:nvPr/>
        </p:nvSpPr>
        <p:spPr>
          <a:xfrm>
            <a:off x="4892040" y="2468880"/>
            <a:ext cx="3886200" cy="20574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1600" b="1" dirty="0">
                <a:solidFill>
                  <a:srgbClr val="EF4444"/>
                </a:solidFill>
                <a:latin typeface="Calibri"/>
              </a:rPr>
              <a:t>🏦 XLF — Financial (Institution-driven)</a:t>
            </a:r>
          </a:p>
          <a:p>
            <a:r>
              <a:rPr lang="en-US" sz="1200" dirty="0">
                <a:solidFill>
                  <a:srgbClr val="C8D8F0"/>
                </a:solidFill>
                <a:latin typeface="Calibri"/>
              </a:rPr>
              <a:t>Algorithms execute in milliseconds.</a:t>
            </a:r>
          </a:p>
          <a:p>
            <a:r>
              <a:rPr lang="en-US" sz="1200" dirty="0">
                <a:solidFill>
                  <a:srgbClr val="C8D8F0"/>
                </a:solidFill>
                <a:latin typeface="Calibri"/>
              </a:rPr>
              <a:t>Attitude and Behaviour happen simultaneously.</a:t>
            </a:r>
          </a:p>
          <a:p>
            <a:r>
              <a:rPr lang="en-US" sz="1200" dirty="0">
                <a:solidFill>
                  <a:srgbClr val="C8D8F0"/>
                </a:solidFill>
                <a:latin typeface="Calibri"/>
              </a:rPr>
              <a:t>No exploitable lag.</a:t>
            </a:r>
          </a:p>
          <a:p>
            <a:endParaRPr lang="en-US" sz="1200" dirty="0">
              <a:solidFill>
                <a:srgbClr val="C8D8F0"/>
              </a:solidFill>
              <a:latin typeface="Calibri"/>
            </a:endParaRPr>
          </a:p>
          <a:p>
            <a:endParaRPr lang="en-US" sz="1200" dirty="0">
              <a:solidFill>
                <a:srgbClr val="C8D8F0"/>
              </a:solidFill>
              <a:latin typeface="Calibri"/>
            </a:endParaRPr>
          </a:p>
          <a:p>
            <a:r>
              <a:rPr lang="en-US" sz="1300" b="1" dirty="0">
                <a:solidFill>
                  <a:srgbClr val="EF4444"/>
                </a:solidFill>
                <a:latin typeface="Calibri"/>
              </a:rPr>
              <a:t>✘ No predictable window</a:t>
            </a:r>
          </a:p>
          <a:p>
            <a:r>
              <a:rPr lang="en-US" sz="1200" dirty="0">
                <a:solidFill>
                  <a:srgbClr val="8A9BB8"/>
                </a:solidFill>
                <a:latin typeface="Calibri"/>
              </a:rPr>
              <a:t>Granger: 0 features significant</a:t>
            </a:r>
          </a:p>
        </p:txBody>
      </p:sp>
      <p:sp>
        <p:nvSpPr>
          <p:cNvPr id="18" name="pg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8A9BB8"/>
                </a:solidFill>
                <a:latin typeface="Calibri"/>
              </a:rPr>
              <a:t>2</a:t>
            </a:r>
          </a:p>
        </p:txBody>
      </p:sp>
      <p:sp>
        <p:nvSpPr>
          <p:cNvPr id="19" name="arr3">
            <a:extLst>
              <a:ext uri="{FF2B5EF4-FFF2-40B4-BE49-F238E27FC236}">
                <a16:creationId xmlns:a16="http://schemas.microsoft.com/office/drawing/2014/main" id="{7225DF93-8064-FA19-F9E2-0D8F3322D489}"/>
              </a:ext>
            </a:extLst>
          </p:cNvPr>
          <p:cNvSpPr/>
          <p:nvPr/>
        </p:nvSpPr>
        <p:spPr>
          <a:xfrm>
            <a:off x="5478888" y="1490953"/>
            <a:ext cx="320040" cy="18288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400" dirty="0">
                <a:solidFill>
                  <a:srgbClr val="F0B429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it from scratch.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D8F0"/>
                </a:solidFill>
              </a:rPr>
              <a:t>No pre-trained black box. Four custom sentiment classifier pipelines trained on financial news. | ETF selection: XLK &amp; XLF chosen as the two largest sector ETFs by AUM — top 10 constituent companies used as holdings-based keywords for article collection. | Technical details: see Appendix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65960" cy="2926080"/>
          </a:xfrm>
          <a:prstGeom prst="rect">
            <a:avLst/>
          </a:prstGeom>
          <a:solidFill>
            <a:srgbClr val="14205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196596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94A3B8"/>
                </a:solidFill>
              </a:rPr>
              <a:t>Sparse NB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8D8F0"/>
                </a:solidFill>
              </a:rPr>
              <a:t>TF-IDF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8D8F0"/>
                </a:solidFill>
              </a:rPr>
              <a:t>+ Naive Bayes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" y="3886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8"/>
                </a:solidFill>
              </a:rPr>
              <a:t>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371600"/>
            <a:ext cx="1965960" cy="2926080"/>
          </a:xfrm>
          <a:prstGeom prst="rect">
            <a:avLst/>
          </a:prstGeom>
          <a:solidFill>
            <a:srgbClr val="1A2F5A"/>
          </a:solidFill>
          <a:ln w="31750">
            <a:solidFill>
              <a:srgbClr val="F0B4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371600"/>
            <a:ext cx="1965960" cy="4114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18288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B429"/>
                </a:solidFill>
              </a:rPr>
              <a:t>Dense SVM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560320" y="22860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8D8F0"/>
                </a:solidFill>
              </a:rPr>
              <a:t>TF-IDF + SVD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8D8F0"/>
                </a:solidFill>
              </a:rPr>
              <a:t>+ SVM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2918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560320" y="3886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8"/>
                </a:solidFill>
              </a:rPr>
              <a:t>accuracy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4160520"/>
            <a:ext cx="1874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B429"/>
                </a:solidFill>
              </a:rPr>
              <a:t>★ WINNER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1965960" cy="2926080"/>
          </a:xfrm>
          <a:prstGeom prst="rect">
            <a:avLst/>
          </a:prstGeom>
          <a:solidFill>
            <a:srgbClr val="14205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371600"/>
            <a:ext cx="196596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9160" y="18288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94A3B8"/>
                </a:solidFill>
              </a:rPr>
              <a:t>LDA+XGB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709160" y="22860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8D8F0"/>
                </a:solidFill>
              </a:rPr>
              <a:t>Topic model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8D8F0"/>
                </a:solidFill>
              </a:rPr>
              <a:t>+ XGBoost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2918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709160" y="3886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8"/>
                </a:solidFill>
              </a:rPr>
              <a:t>accuracy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1371600"/>
            <a:ext cx="1965960" cy="2926080"/>
          </a:xfrm>
          <a:prstGeom prst="rect">
            <a:avLst/>
          </a:prstGeom>
          <a:solidFill>
            <a:srgbClr val="14205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1371600"/>
            <a:ext cx="196596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18288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94A3B8"/>
                </a:solidFill>
              </a:rPr>
              <a:t>Word2Vec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58000" y="22860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8D8F0"/>
                </a:solidFill>
              </a:rPr>
              <a:t>Embeddings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8D8F0"/>
                </a:solidFill>
              </a:rPr>
              <a:t>+ XGBoost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2918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858000" y="3886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8"/>
                </a:solidFill>
              </a:rPr>
              <a:t>accuracy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8"/>
                </a:solidFill>
              </a:rPr>
              <a:t>Dense SVM selected for all downstream sentiment scoring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1H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gnum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</a:rPr>
              <a:t>4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200000"/>
            <a:ext cx="82296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/>
              </a:rPr>
              <a:t>Two Hypotheses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70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9BB8"/>
                </a:solidFill>
                <a:latin typeface="Calibri"/>
              </a:rPr>
              <a:t>What are we testing? What would it mean if true?</a:t>
            </a:r>
          </a:p>
        </p:txBody>
      </p:sp>
      <p:sp>
        <p:nvSpPr>
          <p:cNvPr id="5" name="h1bg"/>
          <p:cNvSpPr/>
          <p:nvPr/>
        </p:nvSpPr>
        <p:spPr>
          <a:xfrm>
            <a:off x="274320" y="1100000"/>
            <a:ext cx="4114800" cy="2950000"/>
          </a:xfrm>
          <a:prstGeom prst="rect">
            <a:avLst/>
          </a:prstGeom>
          <a:solidFill>
            <a:srgbClr val="0A2540"/>
          </a:solidFill>
          <a:ln w="28000">
            <a:solidFill>
              <a:srgbClr val="00BC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h1badge"/>
          <p:cNvSpPr/>
          <p:nvPr/>
        </p:nvSpPr>
        <p:spPr>
          <a:xfrm>
            <a:off x="365760" y="1160000"/>
            <a:ext cx="820000" cy="320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0D1B3E"/>
                </a:solidFill>
                <a:latin typeface="Calibri"/>
              </a:rPr>
              <a:t>H1</a:t>
            </a:r>
          </a:p>
        </p:txBody>
      </p:sp>
      <p:sp>
        <p:nvSpPr>
          <p:cNvPr id="7" name="h1title"/>
          <p:cNvSpPr/>
          <p:nvPr/>
        </p:nvSpPr>
        <p:spPr>
          <a:xfrm>
            <a:off x="365760" y="1540000"/>
            <a:ext cx="393228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/>
              </a:rPr>
              <a:t>Sector Divergence</a:t>
            </a:r>
          </a:p>
        </p:txBody>
      </p:sp>
      <p:sp>
        <p:nvSpPr>
          <p:cNvPr id="8" name="h1hyp"/>
          <p:cNvSpPr/>
          <p:nvPr/>
        </p:nvSpPr>
        <p:spPr>
          <a:xfrm>
            <a:off x="365760" y="1900000"/>
            <a:ext cx="3932280" cy="420000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/>
              </a:rPr>
              <a:t>XLK (Technology) achieves higher directional prediction accuracy from news sentiment than XLF (Financial).</a:t>
            </a:r>
          </a:p>
          <a:p>
            <a:pPr marL="0" indent="0">
              <a:buNone/>
            </a:pPr>
            <a:endParaRPr lang="en-US" sz="1300" dirty="0">
              <a:solidFill>
                <a:srgbClr val="E2E8F0"/>
              </a:solidFill>
              <a:latin typeface="Calibri"/>
            </a:endParaRPr>
          </a:p>
          <a:p>
            <a:pPr marL="0" indent="0">
              <a:buNone/>
            </a:pPr>
            <a:endParaRPr lang="en-US" sz="1300" dirty="0">
              <a:solidFill>
                <a:srgbClr val="E2E8F0"/>
              </a:solidFill>
              <a:latin typeface="Calibri"/>
            </a:endParaRPr>
          </a:p>
        </p:txBody>
      </p:sp>
      <p:sp>
        <p:nvSpPr>
          <p:cNvPr id="9" name="h1why"/>
          <p:cNvSpPr/>
          <p:nvPr/>
        </p:nvSpPr>
        <p:spPr>
          <a:xfrm>
            <a:off x="365760" y="2400000"/>
            <a:ext cx="39322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0BCD4"/>
              </a:solidFill>
              <a:latin typeface="Calibri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/>
              </a:rPr>
              <a:t>Why it would matter:</a:t>
            </a:r>
          </a:p>
        </p:txBody>
      </p:sp>
      <p:sp>
        <p:nvSpPr>
          <p:cNvPr id="10" name="h1why2"/>
          <p:cNvSpPr/>
          <p:nvPr/>
        </p:nvSpPr>
        <p:spPr>
          <a:xfrm>
            <a:off x="365760" y="2680000"/>
            <a:ext cx="393228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94A3B8"/>
              </a:solidFill>
              <a:latin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/>
              </a:rPr>
              <a:t>Different sectors respond differently to news — NLP strategies should not be applied uniformly across all stocks.</a:t>
            </a:r>
          </a:p>
        </p:txBody>
      </p:sp>
      <p:sp>
        <p:nvSpPr>
          <p:cNvPr id="12" name="h2bg"/>
          <p:cNvSpPr/>
          <p:nvPr/>
        </p:nvSpPr>
        <p:spPr>
          <a:xfrm>
            <a:off x="4754880" y="1100000"/>
            <a:ext cx="4114800" cy="2950000"/>
          </a:xfrm>
          <a:prstGeom prst="rect">
            <a:avLst/>
          </a:prstGeom>
          <a:solidFill>
            <a:srgbClr val="1A0A0A"/>
          </a:solidFill>
          <a:ln w="28000">
            <a:solidFill>
              <a:srgbClr val="F59E0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h2badge"/>
          <p:cNvSpPr/>
          <p:nvPr/>
        </p:nvSpPr>
        <p:spPr>
          <a:xfrm>
            <a:off x="4846320" y="1160000"/>
            <a:ext cx="820000" cy="3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0D1B3E"/>
                </a:solidFill>
                <a:latin typeface="Calibri"/>
              </a:rPr>
              <a:t>H2</a:t>
            </a:r>
          </a:p>
        </p:txBody>
      </p:sp>
      <p:sp>
        <p:nvSpPr>
          <p:cNvPr id="14" name="h2title"/>
          <p:cNvSpPr/>
          <p:nvPr/>
        </p:nvSpPr>
        <p:spPr>
          <a:xfrm>
            <a:off x="4846320" y="1540000"/>
            <a:ext cx="393228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/>
              </a:rPr>
              <a:t>Sentiment Value</a:t>
            </a:r>
          </a:p>
        </p:txBody>
      </p:sp>
      <p:sp>
        <p:nvSpPr>
          <p:cNvPr id="15" name="h2hyp"/>
          <p:cNvSpPr/>
          <p:nvPr/>
        </p:nvSpPr>
        <p:spPr>
          <a:xfrm>
            <a:off x="4846320" y="1900000"/>
            <a:ext cx="3932280" cy="420000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/>
              </a:rPr>
              <a:t>Adding news sentiment features significantly improves directional prediction accuracy beyond technical indicators alone.</a:t>
            </a:r>
          </a:p>
        </p:txBody>
      </p:sp>
      <p:sp>
        <p:nvSpPr>
          <p:cNvPr id="16" name="h2why"/>
          <p:cNvSpPr/>
          <p:nvPr/>
        </p:nvSpPr>
        <p:spPr>
          <a:xfrm>
            <a:off x="4845960" y="2451141"/>
            <a:ext cx="39322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F59E0B"/>
              </a:solidFill>
              <a:latin typeface="Calibri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/>
              </a:rPr>
              <a:t>Why it would matter:</a:t>
            </a:r>
          </a:p>
        </p:txBody>
      </p:sp>
      <p:sp>
        <p:nvSpPr>
          <p:cNvPr id="17" name="h2why2"/>
          <p:cNvSpPr/>
          <p:nvPr/>
        </p:nvSpPr>
        <p:spPr>
          <a:xfrm>
            <a:off x="4846320" y="2680000"/>
            <a:ext cx="393228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94A3B8"/>
              </a:solidFill>
              <a:latin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/>
              </a:rPr>
              <a:t>Justify the cost and complexity of building a full NLP pipeline — would it actually improve trading decisions?</a:t>
            </a:r>
          </a:p>
        </p:txBody>
      </p:sp>
      <p:sp>
        <p:nvSpPr>
          <p:cNvPr id="11" name="bottombar">
            <a:extLst>
              <a:ext uri="{FF2B5EF4-FFF2-40B4-BE49-F238E27FC236}">
                <a16:creationId xmlns:a16="http://schemas.microsoft.com/office/drawing/2014/main" id="{AA297390-E684-B8CD-389A-E657228501DF}"/>
              </a:ext>
            </a:extLst>
          </p:cNvPr>
          <p:cNvSpPr/>
          <p:nvPr/>
        </p:nvSpPr>
        <p:spPr>
          <a:xfrm>
            <a:off x="0" y="4216386"/>
            <a:ext cx="9144000" cy="560000"/>
          </a:xfrm>
          <a:prstGeom prst="rect">
            <a:avLst/>
          </a:prstGeom>
          <a:solidFill>
            <a:srgbClr val="071020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altLang="zh-CN" sz="1200" dirty="0">
                <a:solidFill>
                  <a:schemeClr val="bg1"/>
                </a:solidFill>
              </a:rPr>
              <a:t>"</a:t>
            </a:r>
            <a:r>
              <a:rPr lang="en-US" altLang="zh-CN" sz="1200" dirty="0">
                <a:solidFill>
                  <a:srgbClr val="FF0000"/>
                </a:solidFill>
              </a:rPr>
              <a:t>H1</a:t>
            </a:r>
            <a:r>
              <a:rPr lang="en-US" altLang="zh-CN" sz="1200" dirty="0">
                <a:solidFill>
                  <a:schemeClr val="bg1"/>
                </a:solidFill>
              </a:rPr>
              <a:t> tested: paired t-test, n=1,010 | Results: Slides 5 | </a:t>
            </a:r>
            <a:r>
              <a:rPr lang="en-US" altLang="zh-CN" sz="1200" dirty="0">
                <a:solidFill>
                  <a:srgbClr val="FF0000"/>
                </a:solidFill>
              </a:rPr>
              <a:t>H2</a:t>
            </a:r>
            <a:r>
              <a:rPr lang="en-US" altLang="zh-CN" sz="1200" dirty="0">
                <a:solidFill>
                  <a:schemeClr val="bg1"/>
                </a:solidFill>
              </a:rPr>
              <a:t> tested: McNemar's test, 80/20 split | Results: Slides 11"</a:t>
            </a:r>
            <a:endParaRPr lang="en-US" sz="120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3600" dirty="0">
                <a:solidFill>
                  <a:schemeClr val="bg1"/>
                </a:solidFill>
              </a:rPr>
              <a:t>The Performance Gap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9BB8"/>
                </a:solidFill>
              </a:rPr>
              <a:t>It depends on which sector you're looking at.</a:t>
            </a:r>
            <a:endParaRPr lang="en-US" sz="1600" dirty="0"/>
          </a:p>
          <a:p>
            <a:pPr algn="l"/>
            <a:r>
              <a:rPr lang="en-US" sz="1100" i="1" dirty="0">
                <a:solidFill>
                  <a:srgbClr val="F0B429"/>
                </a:solidFill>
                <a:latin typeface="Calibri"/>
              </a:rPr>
              <a:t>H1: XLK more sentiment-predictable than XLF?  →  Tested here    H2: Does adding sentiment improve accuracy?  →  Answer on Slide 11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566160"/>
          </a:xfrm>
          <a:prstGeom prst="rect">
            <a:avLst/>
          </a:prstGeom>
          <a:solidFill>
            <a:srgbClr val="0A1F3A"/>
          </a:solidFill>
          <a:ln w="317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</a:rPr>
              <a:t>📱  XLK (Tech)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54.65%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8"/>
                </a:solidFill>
              </a:rPr>
              <a:t>directional 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3657600" cy="36576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089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✓  Sentiment leads prices 1–4 days ahead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✓  Granger causality confirmed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✓  Retail attention delay exploitable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14800" cy="3566160"/>
          </a:xfrm>
          <a:prstGeom prst="rect">
            <a:avLst/>
          </a:prstGeom>
          <a:solidFill>
            <a:srgbClr val="1A0A0A"/>
          </a:solidFill>
          <a:ln w="31750">
            <a:solidFill>
              <a:srgbClr val="F0B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25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B429"/>
                </a:solidFill>
              </a:rPr>
              <a:t>🏦  XLF (Finance)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1828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48.71%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480060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8"/>
                </a:solidFill>
              </a:rPr>
              <a:t>directional accuracy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2971800"/>
            <a:ext cx="3657600" cy="36576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1089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✗  Sentiment reacts simultaneously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✗  No predictive lag detected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✗  Rate cycles already priced 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B8"/>
                </a:solidFill>
              </a:rPr>
              <a:t>Random baseline = 50%  |  1,010 trading days  |  0.1% transaction cost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eatures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gnum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</a:rPr>
              <a:t>6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180000"/>
            <a:ext cx="82296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30 Features: What goes into the model?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60000"/>
            <a:ext cx="82296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9BB8"/>
                </a:solidFill>
                <a:latin typeface="Calibri"/>
              </a:rPr>
              <a:t>Four categories — capturing price momentum, news attitude, macro regime, and market activity</a:t>
            </a:r>
          </a:p>
        </p:txBody>
      </p:sp>
      <p:sp>
        <p:nvSpPr>
          <p:cNvPr id="5" name="techbg"/>
          <p:cNvSpPr/>
          <p:nvPr/>
        </p:nvSpPr>
        <p:spPr>
          <a:xfrm>
            <a:off x="457200" y="1020000"/>
            <a:ext cx="2010600" cy="2760000"/>
          </a:xfrm>
          <a:prstGeom prst="rect">
            <a:avLst/>
          </a:prstGeom>
          <a:solidFill>
            <a:srgbClr val="0A2540"/>
          </a:solidFill>
          <a:ln w="19050">
            <a:solidFill>
              <a:srgbClr val="4ADE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chhdr"/>
          <p:cNvSpPr/>
          <p:nvPr/>
        </p:nvSpPr>
        <p:spPr>
          <a:xfrm>
            <a:off x="548640" y="1080000"/>
            <a:ext cx="18288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4ADE80"/>
                </a:solidFill>
                <a:latin typeface="Calibri"/>
              </a:rPr>
              <a:t>📈 Technical  (9)</a:t>
            </a:r>
          </a:p>
        </p:txBody>
      </p:sp>
      <p:sp>
        <p:nvSpPr>
          <p:cNvPr id="7" name="techlist"/>
          <p:cNvSpPr/>
          <p:nvPr/>
        </p:nvSpPr>
        <p:spPr>
          <a:xfrm>
            <a:off x="548640" y="1380000"/>
            <a:ext cx="1828800" cy="2280000"/>
          </a:xfrm>
          <a:prstGeom prst="rect">
            <a:avLst/>
          </a:prstGeom>
          <a:noFill/>
          <a:ln/>
        </p:spPr>
        <p:txBody>
          <a:bodyPr wrap="square" lIns="60960" tIns="6096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MA5 / MA10 / MA20 / MA50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RSI (14-day)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MACD + Signal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BB_Upper / BB_Lower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/>
              </a:rPr>
              <a:t>Price momentum &amp; mean-reversion signals</a:t>
            </a:r>
          </a:p>
        </p:txBody>
      </p:sp>
      <p:sp>
        <p:nvSpPr>
          <p:cNvPr id="8" name="sentbg"/>
          <p:cNvSpPr/>
          <p:nvPr/>
        </p:nvSpPr>
        <p:spPr>
          <a:xfrm>
            <a:off x="2559000" y="1020000"/>
            <a:ext cx="2010600" cy="2760000"/>
          </a:xfrm>
          <a:prstGeom prst="rect">
            <a:avLst/>
          </a:prstGeom>
          <a:solidFill>
            <a:srgbClr val="0A2540"/>
          </a:solidFill>
          <a:ln w="19050">
            <a:solidFill>
              <a:srgbClr val="00BCD4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9" name="senthdr"/>
          <p:cNvSpPr/>
          <p:nvPr/>
        </p:nvSpPr>
        <p:spPr>
          <a:xfrm>
            <a:off x="2650440" y="1080000"/>
            <a:ext cx="18288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BCD4"/>
                </a:solidFill>
                <a:latin typeface="Calibri"/>
              </a:rPr>
              <a:t>💬 Sentiment  (11)</a:t>
            </a:r>
          </a:p>
        </p:txBody>
      </p:sp>
      <p:sp>
        <p:nvSpPr>
          <p:cNvPr id="10" name="sentlist"/>
          <p:cNvSpPr/>
          <p:nvPr/>
        </p:nvSpPr>
        <p:spPr>
          <a:xfrm>
            <a:off x="2650440" y="1380000"/>
            <a:ext cx="1828800" cy="2280000"/>
          </a:xfrm>
          <a:prstGeom prst="rect">
            <a:avLst/>
          </a:prstGeom>
          <a:noFill/>
          <a:ln/>
        </p:spPr>
        <p:txBody>
          <a:bodyPr wrap="square" lIns="60960" tIns="6096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CBD5E1"/>
                </a:solidFill>
                <a:latin typeface="Calibri"/>
              </a:rPr>
              <a:t>Sentiment_LM</a:t>
            </a:r>
            <a:r>
              <a:rPr lang="en-US" sz="1100" dirty="0">
                <a:solidFill>
                  <a:srgbClr val="CBD5E1"/>
                </a:solidFill>
                <a:latin typeface="Calibri"/>
              </a:rPr>
              <a:t> (raw)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EMA / MA3 / MA10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Vol / Std5 / Std10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Momentum / RoC</a:t>
            </a:r>
          </a:p>
          <a:p>
            <a:pPr marL="0" indent="0">
              <a:buNone/>
            </a:pPr>
            <a:r>
              <a:rPr lang="en-US" sz="1100" dirty="0" err="1">
                <a:solidFill>
                  <a:srgbClr val="CBD5E1"/>
                </a:solidFill>
                <a:latin typeface="Calibri"/>
              </a:rPr>
              <a:t>Price_Divergence</a:t>
            </a:r>
            <a:endParaRPr lang="en-US" sz="1100" dirty="0">
              <a:solidFill>
                <a:srgbClr val="CBD5E1"/>
              </a:solidFill>
              <a:latin typeface="Calibri"/>
            </a:endParaRPr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/>
              </a:rPr>
              <a:t>Trend, volatility &amp; divergence of news attitude</a:t>
            </a:r>
          </a:p>
        </p:txBody>
      </p:sp>
      <p:sp>
        <p:nvSpPr>
          <p:cNvPr id="11" name="macrobg"/>
          <p:cNvSpPr/>
          <p:nvPr/>
        </p:nvSpPr>
        <p:spPr>
          <a:xfrm>
            <a:off x="4660800" y="1020000"/>
            <a:ext cx="2010600" cy="2760000"/>
          </a:xfrm>
          <a:prstGeom prst="rect">
            <a:avLst/>
          </a:prstGeom>
          <a:solidFill>
            <a:srgbClr val="0A2540"/>
          </a:solidFill>
          <a:ln w="19050">
            <a:solidFill>
              <a:srgbClr val="F59E0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macrohdr"/>
          <p:cNvSpPr/>
          <p:nvPr/>
        </p:nvSpPr>
        <p:spPr>
          <a:xfrm>
            <a:off x="4752240" y="1080000"/>
            <a:ext cx="18288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/>
              </a:rPr>
              <a:t>🌍 Macro  (7)</a:t>
            </a:r>
          </a:p>
        </p:txBody>
      </p:sp>
      <p:sp>
        <p:nvSpPr>
          <p:cNvPr id="13" name="macrolist"/>
          <p:cNvSpPr/>
          <p:nvPr/>
        </p:nvSpPr>
        <p:spPr>
          <a:xfrm>
            <a:off x="4752240" y="1380000"/>
            <a:ext cx="1828800" cy="2280000"/>
          </a:xfrm>
          <a:prstGeom prst="rect">
            <a:avLst/>
          </a:prstGeom>
          <a:noFill/>
          <a:ln/>
        </p:spPr>
        <p:txBody>
          <a:bodyPr wrap="square" lIns="60960" tIns="6096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VIX / VIX_MA5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VIX_Change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Treasury_10Y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Dollar_Index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Sent_VIX_Interaction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/>
              </a:rPr>
              <a:t>Market fear, rates &amp; fear×sentiment interaction</a:t>
            </a:r>
          </a:p>
        </p:txBody>
      </p:sp>
      <p:sp>
        <p:nvSpPr>
          <p:cNvPr id="14" name="auxbg"/>
          <p:cNvSpPr/>
          <p:nvPr/>
        </p:nvSpPr>
        <p:spPr>
          <a:xfrm>
            <a:off x="6762600" y="1020000"/>
            <a:ext cx="2010600" cy="2760000"/>
          </a:xfrm>
          <a:prstGeom prst="rect">
            <a:avLst/>
          </a:prstGeom>
          <a:solidFill>
            <a:srgbClr val="0A2540"/>
          </a:solidFill>
          <a:ln w="19050">
            <a:solidFill>
              <a:srgbClr val="A78BF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auxhdr"/>
          <p:cNvSpPr/>
          <p:nvPr/>
        </p:nvSpPr>
        <p:spPr>
          <a:xfrm>
            <a:off x="6854040" y="1080000"/>
            <a:ext cx="18288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libri"/>
              </a:rPr>
              <a:t>📊 Auxiliary  (3)</a:t>
            </a:r>
          </a:p>
        </p:txBody>
      </p:sp>
      <p:sp>
        <p:nvSpPr>
          <p:cNvPr id="16" name="auxlist"/>
          <p:cNvSpPr/>
          <p:nvPr/>
        </p:nvSpPr>
        <p:spPr>
          <a:xfrm>
            <a:off x="6854040" y="1380000"/>
            <a:ext cx="1828800" cy="2280000"/>
          </a:xfrm>
          <a:prstGeom prst="rect">
            <a:avLst/>
          </a:prstGeom>
          <a:noFill/>
          <a:ln/>
        </p:spPr>
        <p:txBody>
          <a:bodyPr wrap="square" lIns="60960" tIns="6096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Log_Return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News_Count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Volume_Ratio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/>
              </a:rPr>
              <a:t>Attention breadth &amp; institutional conviction</a:t>
            </a:r>
          </a:p>
        </p:txBody>
      </p:sp>
      <p:sp>
        <p:nvSpPr>
          <p:cNvPr id="17" name="bottombar"/>
          <p:cNvSpPr/>
          <p:nvPr/>
        </p:nvSpPr>
        <p:spPr>
          <a:xfrm>
            <a:off x="0" y="3900000"/>
            <a:ext cx="9144000" cy="560000"/>
          </a:xfrm>
          <a:prstGeom prst="rect">
            <a:avLst/>
          </a:prstGeom>
          <a:solidFill>
            <a:srgbClr val="071020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/>
              </a:rPr>
              <a:t>Key design: Technical ⊥ Sentiment blocks (near-zero cross-correlation) — news sentiment provides </a:t>
            </a:r>
            <a:r>
              <a:rPr lang="en-US" sz="1200" b="1" dirty="0">
                <a:solidFill>
                  <a:srgbClr val="00BCD4"/>
                </a:solidFill>
                <a:latin typeface="Calibri"/>
              </a:rPr>
              <a:t>orthogonal, non-redundant information</a:t>
            </a:r>
            <a:r>
              <a:rPr lang="en-US" sz="1200" dirty="0">
                <a:solidFill>
                  <a:srgbClr val="94A3B8"/>
                </a:solidFill>
                <a:latin typeface="Calibri"/>
              </a:rPr>
              <a:t> to price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strategy perform?</a:t>
            </a:r>
            <a:endParaRPr lang="en-US" sz="3000" dirty="0"/>
          </a:p>
        </p:txBody>
      </p:sp>
      <p:pic>
        <p:nvPicPr>
          <p:cNvPr id="4" name="Image 0" descr="/home/claude/report/lstm_xl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822960"/>
            <a:ext cx="429768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12724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8"/>
                </a:solidFill>
              </a:rPr>
              <a:t>LSTM Strategy — XLK</a:t>
            </a:r>
            <a:endParaRPr lang="en-US" sz="1100" dirty="0"/>
          </a:p>
        </p:txBody>
      </p:sp>
      <p:pic>
        <p:nvPicPr>
          <p:cNvPr id="6" name="Image 1" descr="/home/claude/report/xgb_xl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822960"/>
            <a:ext cx="429768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12724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8"/>
                </a:solidFill>
              </a:rPr>
              <a:t>XGBoost Strategy — XLK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3566160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0B429"/>
                </a:solidFill>
              </a:rPr>
              <a:t>Honest take: </a:t>
            </a:r>
            <a:r>
              <a:rPr lang="en-US" sz="1300" dirty="0">
                <a:solidFill>
                  <a:srgbClr val="C8D8F0"/>
                </a:solidFill>
              </a:rPr>
              <a:t>Both strategies underperform buy-and-hold on total return — but </a:t>
            </a:r>
            <a:r>
              <a:rPr lang="en-US" sz="1300" b="1" dirty="0">
                <a:solidFill>
                  <a:srgbClr val="22C55E"/>
                </a:solidFill>
              </a:rPr>
              <a:t>directional accuracy stays above random (54.65% vs 50%)</a:t>
            </a:r>
            <a:r>
              <a:rPr lang="en-US" sz="1300" dirty="0">
                <a:solidFill>
                  <a:srgbClr val="C8D8F0"/>
                </a:solidFill>
              </a:rPr>
              <a:t>. The value is in </a:t>
            </a:r>
            <a:r>
              <a:rPr lang="en-US" sz="1300" b="1" dirty="0">
                <a:solidFill>
                  <a:srgbClr val="C8D8F0"/>
                </a:solidFill>
              </a:rPr>
              <a:t>predicting direction, not maximizing absolute return.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— something strange.</a:t>
            </a:r>
            <a:endParaRPr lang="en-US" sz="3200" dirty="0"/>
          </a:p>
        </p:txBody>
      </p:sp>
      <p:pic>
        <p:nvPicPr>
          <p:cNvPr id="4" name="Image 0" descr="/home/claude/report/fi_compa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859536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3657600"/>
            <a:ext cx="8412480" cy="1234440"/>
          </a:xfrm>
          <a:prstGeom prst="rect">
            <a:avLst/>
          </a:prstGeom>
          <a:solidFill>
            <a:srgbClr val="1A1A0A"/>
          </a:solidFill>
          <a:ln w="25400">
            <a:solidFill>
              <a:srgbClr val="F0B4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🤔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97280" y="37033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8D8F0"/>
                </a:solidFill>
              </a:rPr>
              <a:t>XLF relies MORE on sentiment (41.7% vs 38.8%) and has more top-10 sentiment features —</a:t>
            </a:r>
            <a:endParaRPr lang="en-US" sz="14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8D8F0"/>
                </a:solidFill>
              </a:rPr>
              <a:t>but still </a:t>
            </a:r>
            <a:endParaRPr lang="en-US" sz="14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EF4444"/>
                </a:solidFill>
              </a:rPr>
              <a:t>predicts worse</a:t>
            </a:r>
            <a:r>
              <a:rPr lang="en-US" sz="1400" dirty="0">
                <a:solidFill>
                  <a:srgbClr val="C8D8F0"/>
                </a:solidFill>
              </a:rPr>
              <a:t>. Why?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answer: correlation vs causation.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657600"/>
          </a:xfrm>
          <a:prstGeom prst="rect">
            <a:avLst/>
          </a:prstGeom>
          <a:solidFill>
            <a:srgbClr val="1A0A0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🏦  XLF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BB8"/>
                </a:solidFill>
              </a:rPr>
              <a:t>Co-movement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B429"/>
                </a:solidFill>
              </a:rPr>
              <a:t>Rate decision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338328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2057400"/>
            <a:ext cx="0" cy="64008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2057400"/>
            <a:ext cx="0" cy="64008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News sentiment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⬇ same moment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6888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XLF price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⬇ same moment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3566160" cy="548640"/>
          </a:xfrm>
          <a:prstGeom prst="rect">
            <a:avLst/>
          </a:prstGeom>
          <a:solidFill>
            <a:srgbClr val="2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5643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F4444"/>
                </a:solidFill>
              </a:rPr>
              <a:t>No lag to exploit → model learns co-movement,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F4444"/>
                </a:solidFill>
              </a:rPr>
              <a:t>not causation → Granger: 0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822960"/>
            <a:ext cx="4023360" cy="3657600"/>
          </a:xfrm>
          <a:prstGeom prst="rect">
            <a:avLst/>
          </a:prstGeom>
          <a:solidFill>
            <a:srgbClr val="0A1A0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868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📱  XLK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834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BB8"/>
                </a:solidFill>
              </a:rPr>
              <a:t>Causal Transmission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</a:rPr>
              <a:t>Tech news published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1965960"/>
            <a:ext cx="33832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2057400"/>
            <a:ext cx="0" cy="45720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Sentiment score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(Day 0)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20840" y="2788920"/>
            <a:ext cx="9144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5060" y="25328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→ 1–4 days later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0" y="2560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XLK price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reacts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74920" y="3429000"/>
            <a:ext cx="3566160" cy="548640"/>
          </a:xfrm>
          <a:prstGeom prst="rect">
            <a:avLst/>
          </a:prstGeom>
          <a:solidFill>
            <a:srgbClr val="0A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45643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2C55E"/>
                </a:solidFill>
              </a:rPr>
              <a:t>Retail investors process news over days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2C55E"/>
                </a:solidFill>
              </a:rPr>
              <a:t>→ Granger: 6 features, lags 1–4 days 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"Reliance" in the model ≠ "Predictability" in the market. Granger causality is the diagnostic.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04266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proof: Granger causality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BB8"/>
                </a:solidFill>
              </a:rPr>
              <a:t>Does today's sentiment statistically predict price movement in the next 1–5 days?</a:t>
            </a:r>
            <a:endParaRPr lang="en-US" sz="1300" dirty="0"/>
          </a:p>
        </p:txBody>
      </p:sp>
      <p:pic>
        <p:nvPicPr>
          <p:cNvPr id="5" name="Image 0" descr="/home/claude/report/grang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5303520" cy="2240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005840"/>
            <a:ext cx="3200400" cy="1005840"/>
          </a:xfrm>
          <a:prstGeom prst="rect">
            <a:avLst/>
          </a:prstGeom>
          <a:solidFill>
            <a:srgbClr val="0A1F0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00584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903720" y="10972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XLK features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significant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(lags 1–4 days)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0" y="2148840"/>
            <a:ext cx="3200400" cy="1005840"/>
          </a:xfrm>
          <a:prstGeom prst="rect">
            <a:avLst/>
          </a:prstGeom>
          <a:solidFill>
            <a:srgbClr val="1A0A0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214884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6903720" y="22402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XLF features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significant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(any lag 1–5)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3383280"/>
            <a:ext cx="85953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4564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What this means for H1: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C8D8F0"/>
                </a:solidFill>
              </a:rPr>
              <a:t>Paired t-test: </a:t>
            </a:r>
            <a:r>
              <a:rPr lang="en-US" sz="1250" dirty="0">
                <a:solidFill>
                  <a:srgbClr val="FFFFFF"/>
                </a:solidFill>
              </a:rPr>
              <a:t>t = 2.747, </a:t>
            </a:r>
            <a:r>
              <a:rPr lang="en-US" sz="1250" b="1" dirty="0">
                <a:solidFill>
                  <a:srgbClr val="22C55E"/>
                </a:solidFill>
              </a:rPr>
              <a:t>p = 0.003</a:t>
            </a:r>
            <a:r>
              <a:rPr lang="en-US" sz="1250" dirty="0">
                <a:solidFill>
                  <a:srgbClr val="C8D8F0"/>
                </a:solidFill>
              </a:rPr>
              <a:t>  (n = 1,010 days)  |  XLK accuracy gap: </a:t>
            </a:r>
            <a:r>
              <a:rPr lang="en-US" sz="1250" b="1" dirty="0">
                <a:solidFill>
                  <a:srgbClr val="22C55E"/>
                </a:solidFill>
              </a:rPr>
              <a:t>+5.94 percentage points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8A9BB8"/>
                </a:solidFill>
              </a:rPr>
              <a:t>All 4 sentiment models agree: XLK &gt; XLF. Sign test p = 0.0625 (minimum achievable with n=4).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does adding sentiment actually help?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926080" cy="2286000"/>
          </a:xfrm>
          <a:prstGeom prst="rect">
            <a:avLst/>
          </a:prstGeom>
          <a:solidFill>
            <a:srgbClr val="1A0A0A"/>
          </a:solidFill>
          <a:ln w="317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A9BB8"/>
                </a:solidFill>
              </a:rPr>
              <a:t>Not statistically.</a:t>
            </a:r>
            <a:endParaRPr lang="en-US" sz="1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A9BB8"/>
                </a:solidFill>
              </a:rPr>
              <a:t>(p &gt; 0.12)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822960"/>
            <a:ext cx="5394960" cy="2286000"/>
          </a:xfrm>
          <a:prstGeom prst="rect">
            <a:avLst/>
          </a:prstGeom>
          <a:solidFill>
            <a:srgbClr val="0F1A3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8869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</a:rPr>
              <a:t>...but that tells us something.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1880" y="128016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0B429"/>
                </a:solidFill>
              </a:rPr>
              <a:t>① </a:t>
            </a:r>
            <a:r>
              <a:rPr lang="en-US" sz="1150" dirty="0">
                <a:solidFill>
                  <a:srgbClr val="C8D8F0"/>
                </a:solidFill>
              </a:rPr>
              <a:t>NYT articles have a 24-hour indexing lag — by the time we score sentiment, the market has already reacted.
</a:t>
            </a:r>
            <a:r>
              <a:rPr lang="en-US" sz="1150" b="1" dirty="0">
                <a:solidFill>
                  <a:srgbClr val="F0B429"/>
                </a:solidFill>
              </a:rPr>
              <a:t>② </a:t>
            </a:r>
            <a:r>
              <a:rPr lang="en-US" sz="1150" dirty="0">
                <a:solidFill>
                  <a:srgbClr val="C8D8F0"/>
                </a:solidFill>
              </a:rPr>
              <a:t>Sentiment features overlap with technical indicators (Bollinger Bands, RSI) — adding them buys little new information.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273552"/>
            <a:ext cx="8412480" cy="1600200"/>
          </a:xfrm>
          <a:prstGeom prst="rect">
            <a:avLst/>
          </a:prstGeom>
          <a:solidFill>
            <a:srgbClr val="0D1E3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3756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429"/>
                </a:solidFill>
              </a:rPr>
              <a:t>The bigger insight: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685032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H1 and H2 don't contradict each other. </a:t>
            </a:r>
            <a:r>
              <a:rPr lang="en-US" sz="1200" dirty="0">
                <a:solidFill>
                  <a:srgbClr val="C8D8F0"/>
                </a:solidFill>
              </a:rPr>
              <a:t>XLK is more predictable using sentiment signals (H1 ✓) — but removing those signals barely hurts accuracy (H2 ✗). This is because the </a:t>
            </a:r>
            <a:r>
              <a:rPr lang="en-US" sz="1200" b="1" dirty="0">
                <a:solidFill>
                  <a:srgbClr val="06B6D4"/>
                </a:solidFill>
              </a:rPr>
              <a:t>smoothed / lagged features</a:t>
            </a:r>
            <a:r>
              <a:rPr lang="en-US" sz="1200" dirty="0">
                <a:solidFill>
                  <a:srgbClr val="C8D8F0"/>
                </a:solidFill>
              </a:rPr>
              <a:t> that drive Granger causality are subtle and get averaged out in the McNemar test across 250 test days.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twist: ARIMA flips the story.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9BB8"/>
                </a:solidFill>
              </a:rPr>
              <a:t>Without ANY sentiment — just past prices — which sector is more predictable?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377440"/>
          </a:xfrm>
          <a:prstGeom prst="rect">
            <a:avLst/>
          </a:prstGeom>
          <a:solidFill>
            <a:srgbClr val="0A1F0A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</a:rPr>
              <a:t>XLF wins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8"/>
                </a:solidFill>
              </a:rPr>
              <a:t>ARIMA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BB8"/>
                </a:solidFill>
              </a:rPr>
              <a:t>(XLK = 48%)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4297680" cy="2377440"/>
          </a:xfrm>
          <a:prstGeom prst="rect">
            <a:avLst/>
          </a:prstGeom>
          <a:solidFill>
            <a:srgbClr val="1A1530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1704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B429"/>
                </a:solidFill>
              </a:rPr>
              <a:t>Why?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C8D8F0"/>
                </a:solidFill>
              </a:rPr>
              <a:t>Financial stocks follow rate cycles.
</a:t>
            </a:r>
            <a:r>
              <a:rPr lang="en-US" sz="1200" dirty="0">
                <a:solidFill>
                  <a:srgbClr val="C8D8F0"/>
                </a:solidFill>
              </a:rPr>
              <a:t>The Fed hikes → bank margins expand → XLF rises. These cycles are slow, predictable, and already </a:t>
            </a:r>
            <a:r>
              <a:rPr lang="en-US" sz="1200" b="1" dirty="0">
                <a:solidFill>
                  <a:srgbClr val="F0B429"/>
                </a:solidFill>
              </a:rPr>
              <a:t>baked into past prices</a:t>
            </a:r>
            <a:r>
              <a:rPr lang="en-US" sz="1200" dirty="0">
                <a:solidFill>
                  <a:srgbClr val="C8D8F0"/>
                </a:solidFill>
              </a:rPr>
              <a:t>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Tech stocks react to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6B6D4"/>
                </a:solidFill>
              </a:rPr>
              <a:t>surprises</a:t>
            </a:r>
            <a:r>
              <a:rPr lang="en-US" sz="1200" dirty="0">
                <a:solidFill>
                  <a:srgbClr val="C8D8F0"/>
                </a:solidFill>
              </a:rPr>
              <a:t> — earnings beats, product launches. Past prices tell you nothing until the news hits.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1261872"/>
          </a:xfrm>
          <a:prstGeom prst="rect">
            <a:avLst/>
          </a:prstGeom>
          <a:solidFill>
            <a:srgbClr val="0D1B40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307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The complete picture: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050792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8D8F0"/>
                </a:solidFill>
              </a:rPr>
              <a:t>XLF = structurally predictable from time series  |  XLK = conditionally predictable from sentiment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8D8F0"/>
                </a:solidFill>
              </a:rPr>
              <a:t>Both sectors have a predictability edge — just from completely different sources.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From Research to Real-World Signal</a:t>
            </a:r>
          </a:p>
        </p:txBody>
      </p:sp>
      <p:sp>
        <p:nvSpPr>
          <p:cNvPr id="4" name="Subtitle"/>
          <p:cNvSpPr>
            <a:spLocks noGrp="1"/>
          </p:cNvSpPr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600" i="1" dirty="0">
                <a:solidFill>
                  <a:srgbClr val="B0C4DE"/>
                </a:solidFill>
                <a:latin typeface="Calibri"/>
              </a:rPr>
              <a:t>Live pipeline run on Apr 9, 2026 close — demonstrating end-to-end inference capability</a:t>
            </a:r>
          </a:p>
        </p:txBody>
      </p:sp>
      <p:sp>
        <p:nvSpPr>
          <p:cNvPr id="5" name="XLKBox"/>
          <p:cNvSpPr>
            <a:spLocks noGrp="1"/>
          </p:cNvSpPr>
          <p:nvPr/>
        </p:nvSpPr>
        <p:spPr>
          <a:xfrm>
            <a:off x="365760" y="1097280"/>
            <a:ext cx="3840480" cy="2743200"/>
          </a:xfrm>
          <a:prstGeom prst="rect">
            <a:avLst/>
          </a:prstGeom>
          <a:solidFill>
            <a:srgbClr val="1A2940"/>
          </a:solidFill>
          <a:ln w="19050">
            <a:solidFill>
              <a:srgbClr val="FF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XLFBox"/>
          <p:cNvSpPr>
            <a:spLocks noGrp="1"/>
          </p:cNvSpPr>
          <p:nvPr/>
        </p:nvSpPr>
        <p:spPr>
          <a:xfrm>
            <a:off x="4937760" y="1097280"/>
            <a:ext cx="3840480" cy="2743200"/>
          </a:xfrm>
          <a:prstGeom prst="rect">
            <a:avLst/>
          </a:prstGeom>
          <a:solidFill>
            <a:srgbClr val="1A2940"/>
          </a:solidFill>
          <a:ln w="19050">
            <a:solidFill>
              <a:srgbClr val="FF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XLKLabel"/>
          <p:cNvSpPr>
            <a:spLocks noGrp="1"/>
          </p:cNvSpPr>
          <p:nvPr/>
        </p:nvSpPr>
        <p:spPr>
          <a:xfrm>
            <a:off x="1114747" y="1188720"/>
            <a:ext cx="2743200" cy="32004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</a:rPr>
              <a:t>📱 XLK (Technology)</a:t>
            </a:r>
          </a:p>
        </p:txBody>
      </p:sp>
      <p:sp>
        <p:nvSpPr>
          <p:cNvPr id="8" name="XLKSignal"/>
          <p:cNvSpPr>
            <a:spLocks noGrp="1"/>
          </p:cNvSpPr>
          <p:nvPr/>
        </p:nvSpPr>
        <p:spPr>
          <a:xfrm>
            <a:off x="914400" y="1600200"/>
            <a:ext cx="2743200" cy="7315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6000" b="1" dirty="0">
                <a:solidFill>
                  <a:srgbClr val="FF4444"/>
                </a:solidFill>
                <a:latin typeface="Calibri"/>
              </a:rPr>
              <a:t>SELL</a:t>
            </a:r>
          </a:p>
        </p:txBody>
      </p:sp>
      <p:sp>
        <p:nvSpPr>
          <p:cNvPr id="9" name="XLKProb"/>
          <p:cNvSpPr>
            <a:spLocks noGrp="1"/>
          </p:cNvSpPr>
          <p:nvPr/>
        </p:nvSpPr>
        <p:spPr>
          <a:xfrm>
            <a:off x="1042827" y="2491740"/>
            <a:ext cx="2743200" cy="32004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B0C4DE"/>
                </a:solidFill>
                <a:latin typeface="Calibri"/>
              </a:rPr>
              <a:t>39.2% bullish probability</a:t>
            </a:r>
          </a:p>
        </p:txBody>
      </p:sp>
      <p:sp>
        <p:nvSpPr>
          <p:cNvPr id="10" name="XLKDriver"/>
          <p:cNvSpPr>
            <a:spLocks noGrp="1"/>
          </p:cNvSpPr>
          <p:nvPr/>
        </p:nvSpPr>
        <p:spPr>
          <a:xfrm>
            <a:off x="914400" y="2934300"/>
            <a:ext cx="2743200" cy="41148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 dirty="0">
                <a:solidFill>
                  <a:srgbClr val="888888"/>
                </a:solidFill>
                <a:latin typeface="Calibri"/>
              </a:rPr>
              <a:t>Top driver: MA10 + Sentiment_Price_Divergence</a:t>
            </a:r>
          </a:p>
        </p:txBody>
      </p:sp>
      <p:sp>
        <p:nvSpPr>
          <p:cNvPr id="11" name="XLFLabel"/>
          <p:cNvSpPr>
            <a:spLocks noGrp="1"/>
          </p:cNvSpPr>
          <p:nvPr/>
        </p:nvSpPr>
        <p:spPr>
          <a:xfrm>
            <a:off x="5871681" y="1234440"/>
            <a:ext cx="2743200" cy="32004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</a:rPr>
              <a:t>🏦 XLF (Financial)</a:t>
            </a:r>
          </a:p>
        </p:txBody>
      </p:sp>
      <p:sp>
        <p:nvSpPr>
          <p:cNvPr id="12" name="XLFSignal"/>
          <p:cNvSpPr>
            <a:spLocks noGrp="1"/>
          </p:cNvSpPr>
          <p:nvPr/>
        </p:nvSpPr>
        <p:spPr>
          <a:xfrm>
            <a:off x="5486400" y="1691640"/>
            <a:ext cx="2743200" cy="7315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6000" b="1" dirty="0">
                <a:solidFill>
                  <a:srgbClr val="FF4444"/>
                </a:solidFill>
                <a:latin typeface="Calibri"/>
              </a:rPr>
              <a:t>SELL</a:t>
            </a:r>
          </a:p>
        </p:txBody>
      </p:sp>
      <p:sp>
        <p:nvSpPr>
          <p:cNvPr id="13" name="XLFProb"/>
          <p:cNvSpPr>
            <a:spLocks noGrp="1"/>
          </p:cNvSpPr>
          <p:nvPr/>
        </p:nvSpPr>
        <p:spPr>
          <a:xfrm>
            <a:off x="5578868" y="2491226"/>
            <a:ext cx="2743200" cy="32004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B0C4DE"/>
                </a:solidFill>
                <a:latin typeface="Calibri"/>
              </a:rPr>
              <a:t>21.8% bullish probability</a:t>
            </a:r>
          </a:p>
        </p:txBody>
      </p:sp>
      <p:sp>
        <p:nvSpPr>
          <p:cNvPr id="14" name="XLFDriver"/>
          <p:cNvSpPr>
            <a:spLocks noGrp="1"/>
          </p:cNvSpPr>
          <p:nvPr/>
        </p:nvSpPr>
        <p:spPr>
          <a:xfrm>
            <a:off x="5578868" y="2890120"/>
            <a:ext cx="2743200" cy="41148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 dirty="0">
                <a:solidFill>
                  <a:srgbClr val="888888"/>
                </a:solidFill>
                <a:latin typeface="Calibri"/>
              </a:rPr>
              <a:t>Top driver: Volume_Ratio + BB_Lower</a:t>
            </a:r>
          </a:p>
        </p:txBody>
      </p:sp>
      <p:sp>
        <p:nvSpPr>
          <p:cNvPr id="15" name="BottomBar"/>
          <p:cNvSpPr>
            <a:spLocks noGrp="1"/>
          </p:cNvSpPr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MarketMood"/>
          <p:cNvSpPr>
            <a:spLocks noGrp="1"/>
          </p:cNvSpPr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</a:rPr>
              <a:t>Pipeline generated next-day signals within seconds of market close — from raw news sentiment to actionable output. Code available at: github.com/yeyouya2-eng/News-Sentiment-Stock-Prediction</a:t>
            </a:r>
          </a:p>
        </p:txBody>
      </p:sp>
      <p:sp>
        <p:nvSpPr>
          <p:cNvPr id="17" name="PageNum"/>
          <p:cNvSpPr>
            <a:spLocks noGrp="1"/>
          </p:cNvSpPr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Limitations and Fair Comparison</a:t>
            </a:r>
          </a:p>
        </p:txBody>
      </p:sp>
      <p:sp>
        <p:nvSpPr>
          <p:cNvPr id="4" name="lim1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1E2761"/>
          </a:solidFill>
          <a:ln w="9525">
            <a:solidFill>
              <a:srgbClr val="F0B429"/>
            </a:solidFill>
          </a:ln>
        </p:spPr>
        <p:txBody>
          <a:bodyPr lIns="180000" rIns="180000" anchor="ctr"/>
          <a:lstStyle/>
          <a:p>
            <a:r>
              <a:rPr lang="en-US" sz="1500" b="1" dirty="0">
                <a:solidFill>
                  <a:srgbClr val="F0B429"/>
                </a:solidFill>
                <a:latin typeface="Calibri"/>
              </a:rPr>
              <a:t>⏰  24-Hour NYT Indexing Lag</a:t>
            </a:r>
          </a:p>
          <a:p>
            <a:r>
              <a:rPr lang="en-US" sz="1200" dirty="0">
                <a:solidFill>
                  <a:srgbClr val="C8D8F0"/>
                </a:solidFill>
                <a:latin typeface="Calibri"/>
              </a:rPr>
              <a:t>By the time sentiment is scored, the market has already reacted. This explains H2 rejection — but does NOT affect Granger (which tests lags of 1–4 days, beyond the lag window).</a:t>
            </a:r>
          </a:p>
        </p:txBody>
      </p:sp>
      <p:sp>
        <p:nvSpPr>
          <p:cNvPr id="5" name="lim2"/>
          <p:cNvSpPr/>
          <p:nvPr/>
        </p:nvSpPr>
        <p:spPr>
          <a:xfrm>
            <a:off x="365760" y="2228850"/>
            <a:ext cx="8412480" cy="685800"/>
          </a:xfrm>
          <a:prstGeom prst="rect">
            <a:avLst/>
          </a:prstGeom>
          <a:solidFill>
            <a:srgbClr val="1E2761"/>
          </a:solidFill>
          <a:ln w="9525">
            <a:solidFill>
              <a:srgbClr val="EF4444"/>
            </a:solidFill>
          </a:ln>
        </p:spPr>
        <p:txBody>
          <a:bodyPr lIns="180000" rIns="180000" anchor="ctr"/>
          <a:lstStyle/>
          <a:p>
            <a:r>
              <a:rPr lang="en-US" sz="1500" b="1" dirty="0">
                <a:solidFill>
                  <a:srgbClr val="EF4444"/>
                </a:solidFill>
                <a:latin typeface="Calibri"/>
              </a:rPr>
              <a:t>⚠  Data Imbalance — Not a Fully Fair Comparison</a:t>
            </a:r>
          </a:p>
          <a:p>
            <a:r>
              <a:rPr lang="en-US" sz="1200" dirty="0">
                <a:solidFill>
                  <a:srgbClr val="C8D8F0"/>
                </a:solidFill>
                <a:latin typeface="Calibri"/>
              </a:rPr>
              <a:t>XLK: 2,600 articles vs XLF: 484 articles. XLF's lower accuracy may partly reflect weaker training signal, not absence of sentiment effect. Equivalent volumes (e.g., adding Bloomberg/Reuters) needed for a fully fair comparison.</a:t>
            </a:r>
          </a:p>
        </p:txBody>
      </p:sp>
      <p:sp>
        <p:nvSpPr>
          <p:cNvPr id="6" name="lim3"/>
          <p:cNvSpPr/>
          <p:nvPr/>
        </p:nvSpPr>
        <p:spPr>
          <a:xfrm>
            <a:off x="365760" y="3588507"/>
            <a:ext cx="8412480" cy="685800"/>
          </a:xfrm>
          <a:prstGeom prst="rect">
            <a:avLst/>
          </a:prstGeom>
          <a:solidFill>
            <a:srgbClr val="1E2761"/>
          </a:solidFill>
          <a:ln w="9525">
            <a:solidFill>
              <a:srgbClr val="06B6D4"/>
            </a:solidFill>
          </a:ln>
        </p:spPr>
        <p:txBody>
          <a:bodyPr lIns="180000" rIns="180000" anchor="ctr"/>
          <a:lstStyle/>
          <a:p>
            <a:r>
              <a:rPr lang="en-US" sz="1500" b="1" dirty="0">
                <a:solidFill>
                  <a:srgbClr val="06B6D4"/>
                </a:solidFill>
                <a:latin typeface="Calibri"/>
              </a:rPr>
              <a:t>📖  LM Dictionary — Not an Absolute Ground Truth</a:t>
            </a:r>
          </a:p>
          <a:p>
            <a:r>
              <a:rPr lang="en-US" sz="1200" dirty="0">
                <a:solidFill>
                  <a:srgbClr val="C8D8F0"/>
                </a:solidFill>
                <a:latin typeface="Calibri"/>
              </a:rPr>
              <a:t>Keyword-based labels cannot detect sarcasm or contextual nuance. Future work: human annotation or cross-model LLM voting for ground truth validation.</a:t>
            </a:r>
          </a:p>
        </p:txBody>
      </p:sp>
      <p:sp>
        <p:nvSpPr>
          <p:cNvPr id="7" name="bar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0F2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 dirty="0">
                <a:solidFill>
                  <a:srgbClr val="8A9BB8"/>
                </a:solidFill>
                <a:latin typeface="Calibri"/>
              </a:rPr>
              <a:t>These limitations are acknowledged — and do not invalidate the core H1 finding or Granger mechanism.</a:t>
            </a:r>
          </a:p>
        </p:txBody>
      </p:sp>
      <p:sp>
        <p:nvSpPr>
          <p:cNvPr id="8" name="pg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8A9B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</a:rPr>
              <a:t>15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180000"/>
            <a:ext cx="822960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What did we learn — and what should you do?</a:t>
            </a:r>
          </a:p>
        </p:txBody>
      </p:sp>
      <p:sp>
        <p:nvSpPr>
          <p:cNvPr id="4" name="LeftHeader"/>
          <p:cNvSpPr/>
          <p:nvPr/>
        </p:nvSpPr>
        <p:spPr>
          <a:xfrm>
            <a:off x="274320" y="700000"/>
            <a:ext cx="4114800" cy="2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alibri"/>
              </a:rPr>
              <a:t>📊 4 Research Findings</a:t>
            </a:r>
          </a:p>
        </p:txBody>
      </p:sp>
      <p:sp>
        <p:nvSpPr>
          <p:cNvPr id="5" name="F1"/>
          <p:cNvSpPr/>
          <p:nvPr/>
        </p:nvSpPr>
        <p:spPr>
          <a:xfrm>
            <a:off x="274320" y="980000"/>
            <a:ext cx="4114800" cy="820000"/>
          </a:xfrm>
          <a:prstGeom prst="rect">
            <a:avLst/>
          </a:prstGeom>
          <a:solidFill>
            <a:srgbClr val="112244"/>
          </a:solidFill>
          <a:ln w="12700">
            <a:solidFill>
              <a:srgbClr val="4ADE80"/>
            </a:solidFill>
          </a:ln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/>
              </a:rPr>
              <a:t>📡 Tech sentiment: real but short signal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Retail investors process tech news over 1–4 days. That window is real, measurable, and statistically confirmed (t=2.747, p=0.003).</a:t>
            </a:r>
          </a:p>
        </p:txBody>
      </p:sp>
      <p:sp>
        <p:nvSpPr>
          <p:cNvPr id="6" name="F2"/>
          <p:cNvSpPr/>
          <p:nvPr/>
        </p:nvSpPr>
        <p:spPr>
          <a:xfrm>
            <a:off x="274320" y="1820000"/>
            <a:ext cx="4114800" cy="820000"/>
          </a:xfrm>
          <a:prstGeom prst="rect">
            <a:avLst/>
          </a:prstGeom>
          <a:solidFill>
            <a:srgbClr val="112244"/>
          </a:solidFill>
          <a:ln w="12700">
            <a:solidFill>
              <a:srgbClr val="FB923C"/>
            </a:solidFill>
          </a:ln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/>
              </a:rPr>
              <a:t>🔗 Finance sentiment: passenger, not driver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XLF uses sentiment heavily in its model — but news and prices move together. High feature importance ≠ predictive power.</a:t>
            </a:r>
          </a:p>
        </p:txBody>
      </p:sp>
      <p:sp>
        <p:nvSpPr>
          <p:cNvPr id="7" name="F3"/>
          <p:cNvSpPr/>
          <p:nvPr/>
        </p:nvSpPr>
        <p:spPr>
          <a:xfrm>
            <a:off x="274320" y="2660000"/>
            <a:ext cx="4114800" cy="820000"/>
          </a:xfrm>
          <a:prstGeom prst="rect">
            <a:avLst/>
          </a:prstGeom>
          <a:solidFill>
            <a:srgbClr val="112244"/>
          </a:solidFill>
          <a:ln w="12700">
            <a:solidFill>
              <a:srgbClr val="A78BFA"/>
            </a:solidFill>
          </a:ln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/>
              </a:rPr>
              <a:t>🏛 Markets mostly (but not perfectly) efficient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H2 rejection confirms sentiment is largely priced in within a day. The 24-hr NYT lag seals most of the signal — but not all of it.</a:t>
            </a:r>
          </a:p>
        </p:txBody>
      </p:sp>
      <p:sp>
        <p:nvSpPr>
          <p:cNvPr id="8" name="F4"/>
          <p:cNvSpPr/>
          <p:nvPr/>
        </p:nvSpPr>
        <p:spPr>
          <a:xfrm>
            <a:off x="274320" y="3500000"/>
            <a:ext cx="4114800" cy="820000"/>
          </a:xfrm>
          <a:prstGeom prst="rect">
            <a:avLst/>
          </a:prstGeom>
          <a:solidFill>
            <a:srgbClr val="112244"/>
          </a:solidFill>
          <a:ln w="12700">
            <a:solidFill>
              <a:srgbClr val="38BDF8"/>
            </a:solidFill>
          </a:ln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/>
              </a:rPr>
              <a:t>🔍 Granger causality is the key diagnostic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Separates “correlated in the model” from “causally predictive in the market” — a distinction that changes the entire interpretation.</a:t>
            </a:r>
          </a:p>
        </p:txBody>
      </p:sp>
      <p:sp>
        <p:nvSpPr>
          <p:cNvPr id="9" name="RightHeader"/>
          <p:cNvSpPr/>
          <p:nvPr/>
        </p:nvSpPr>
        <p:spPr>
          <a:xfrm>
            <a:off x="4663920" y="700000"/>
            <a:ext cx="4205520" cy="2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500" b="1" dirty="0">
                <a:solidFill>
                  <a:srgbClr val="FCD34D"/>
                </a:solidFill>
                <a:latin typeface="Calibri"/>
              </a:rPr>
              <a:t>💡 3 Practical Implications</a:t>
            </a:r>
          </a:p>
        </p:txBody>
      </p:sp>
      <p:sp>
        <p:nvSpPr>
          <p:cNvPr id="10" name="I1"/>
          <p:cNvSpPr/>
          <p:nvPr/>
        </p:nvSpPr>
        <p:spPr>
          <a:xfrm>
            <a:off x="4663920" y="980000"/>
            <a:ext cx="4205520" cy="1040000"/>
          </a:xfrm>
          <a:prstGeom prst="rect">
            <a:avLst/>
          </a:prstGeom>
          <a:solidFill>
            <a:srgbClr val="112244"/>
          </a:solidFill>
          <a:ln w="19050">
            <a:solidFill>
              <a:srgbClr val="4ADE80"/>
            </a:solidFill>
          </a:ln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/>
              </a:rPr>
              <a:t>📱 Retail investors — Tech (XLK)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The 1–4 day sentiment lag is real and exploitable. Reading NYT tech news gives you an informational window before prices fully react. </a:t>
            </a:r>
            <a:r>
              <a:rPr lang="en-US" sz="1100" b="1" dirty="0">
                <a:solidFill>
                  <a:srgbClr val="4ADE80"/>
                </a:solidFill>
                <a:latin typeface="Calibri"/>
              </a:rPr>
              <a:t>→ Use sentiment for entry timing.</a:t>
            </a:r>
          </a:p>
        </p:txBody>
      </p:sp>
      <p:sp>
        <p:nvSpPr>
          <p:cNvPr id="11" name="I2"/>
          <p:cNvSpPr/>
          <p:nvPr/>
        </p:nvSpPr>
        <p:spPr>
          <a:xfrm>
            <a:off x="4663920" y="2040000"/>
            <a:ext cx="4205520" cy="1040000"/>
          </a:xfrm>
          <a:prstGeom prst="rect">
            <a:avLst/>
          </a:prstGeom>
          <a:solidFill>
            <a:srgbClr val="112244"/>
          </a:solidFill>
          <a:ln w="19050">
            <a:solidFill>
              <a:srgbClr val="FB923C"/>
            </a:solidFill>
          </a:ln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/>
              </a:rPr>
              <a:t>🏦 Retail investors — Finance (XLF)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Institutional algorithms price in XLF news within milliseconds. The window closes before retail investors can act. </a:t>
            </a:r>
            <a:r>
              <a:rPr lang="en-US" sz="1100" b="1" dirty="0">
                <a:solidFill>
                  <a:srgbClr val="FB923C"/>
                </a:solidFill>
                <a:latin typeface="Calibri"/>
              </a:rPr>
              <a:t>→ Stick to macro cycle signals.</a:t>
            </a:r>
          </a:p>
        </p:txBody>
      </p:sp>
      <p:sp>
        <p:nvSpPr>
          <p:cNvPr id="12" name="I3"/>
          <p:cNvSpPr/>
          <p:nvPr/>
        </p:nvSpPr>
        <p:spPr>
          <a:xfrm>
            <a:off x="4663920" y="3100000"/>
            <a:ext cx="4205520" cy="1040000"/>
          </a:xfrm>
          <a:prstGeom prst="rect">
            <a:avLst/>
          </a:prstGeom>
          <a:solidFill>
            <a:srgbClr val="112244"/>
          </a:solidFill>
          <a:ln w="19050">
            <a:solidFill>
              <a:srgbClr val="38BDF8"/>
            </a:solidFill>
          </a:ln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/>
              </a:rPr>
              <a:t>💼 Quant funds &amp; NLP teams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Deploying NLP on macro-coupled sectors produces high feature importance without causal predictive power — wasted compute. </a:t>
            </a:r>
            <a:r>
              <a:rPr lang="en-US" sz="1100" b="1" dirty="0">
                <a:solidFill>
                  <a:srgbClr val="38BDF8"/>
                </a:solidFill>
                <a:latin typeface="Calibri"/>
              </a:rPr>
              <a:t>→ Direct NLP resources to event-driven sectors.</a:t>
            </a:r>
          </a:p>
        </p:txBody>
      </p:sp>
      <p:sp>
        <p:nvSpPr>
          <p:cNvPr id="13" name="Divider"/>
          <p:cNvSpPr/>
          <p:nvPr/>
        </p:nvSpPr>
        <p:spPr>
          <a:xfrm>
            <a:off x="4526280" y="700000"/>
            <a:ext cx="45720" cy="366000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BottomBar"/>
          <p:cNvSpPr/>
          <p:nvPr/>
        </p:nvSpPr>
        <p:spPr>
          <a:xfrm>
            <a:off x="0" y="4385604"/>
            <a:ext cx="9144000" cy="6635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CD34D"/>
                </a:solidFill>
                <a:latin typeface="Calibri"/>
              </a:rPr>
              <a:t>Sector structure determines whether sentiment is a signal — or just noise.</a:t>
            </a:r>
          </a:p>
        </p:txBody>
      </p:sp>
      <p:sp>
        <p:nvSpPr>
          <p:cNvPr id="15" name="Footer"/>
          <p:cNvSpPr/>
          <p:nvPr/>
        </p:nvSpPr>
        <p:spPr>
          <a:xfrm>
            <a:off x="457200" y="4800000"/>
            <a:ext cx="82296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/>
              </a:rPr>
              <a:t>YE, Yongyi  |  25402137  |  ECON 7055  |  April 2026</a:t>
            </a:r>
          </a:p>
        </p:txBody>
      </p:sp>
      <p:sp>
        <p:nvSpPr>
          <p:cNvPr id="19" name="PageNum">
            <a:extLst>
              <a:ext uri="{FF2B5EF4-FFF2-40B4-BE49-F238E27FC236}">
                <a16:creationId xmlns:a16="http://schemas.microsoft.com/office/drawing/2014/main" id="{A42AFD28-5137-2E1B-D6D8-B783310FFB67}"/>
              </a:ext>
            </a:extLst>
          </p:cNvPr>
          <p:cNvSpPr/>
          <p:nvPr/>
        </p:nvSpPr>
        <p:spPr>
          <a:xfrm>
            <a:off x="8686800" y="478446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B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endix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80000"/>
            <a:ext cx="82296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 dirty="0">
                <a:solidFill>
                  <a:schemeClr val="bg1"/>
                </a:solidFill>
                <a:latin typeface="Calibri"/>
              </a:rPr>
              <a:t>Appendix 1 — </a:t>
            </a:r>
            <a:r>
              <a:rPr lang="en-US" altLang="zh-CN" sz="2700" dirty="0">
                <a:solidFill>
                  <a:schemeClr val="bg1"/>
                </a:solidFill>
              </a:rPr>
              <a:t>Full Results &amp; Statistical Tests</a:t>
            </a:r>
            <a:endParaRPr lang="en-US" sz="27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" name="sub"/>
          <p:cNvSpPr/>
          <p:nvPr/>
        </p:nvSpPr>
        <p:spPr>
          <a:xfrm>
            <a:off x="457200" y="660000"/>
            <a:ext cx="82296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/>
              </a:rPr>
              <a:t>Reference slide — open if asked during Q&amp;A</a:t>
            </a:r>
          </a:p>
        </p:txBody>
      </p:sp>
      <p:sp>
        <p:nvSpPr>
          <p:cNvPr id="4" name="s1hdr"/>
          <p:cNvSpPr/>
          <p:nvPr/>
        </p:nvSpPr>
        <p:spPr>
          <a:xfrm>
            <a:off x="457200" y="1000000"/>
            <a:ext cx="8229600" cy="28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/>
              </a:rPr>
              <a:t>A. Full Model Performance Summary</a:t>
            </a:r>
          </a:p>
        </p:txBody>
      </p:sp>
      <p:sp>
        <p:nvSpPr>
          <p:cNvPr id="5" name="tblhdr"/>
          <p:cNvSpPr/>
          <p:nvPr/>
        </p:nvSpPr>
        <p:spPr>
          <a:xfrm>
            <a:off x="457200" y="1280000"/>
            <a:ext cx="8229600" cy="2800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/>
              </a:rPr>
              <a:t>Model                XLK Acc    XLF Acc    XLK Sharpe    XLF Sharpe    Days    Cost</a:t>
            </a:r>
          </a:p>
        </p:txBody>
      </p:sp>
      <p:sp>
        <p:nvSpPr>
          <p:cNvPr id="6" name="row1"/>
          <p:cNvSpPr/>
          <p:nvPr/>
        </p:nvSpPr>
        <p:spPr>
          <a:xfrm>
            <a:off x="457200" y="1560000"/>
            <a:ext cx="8229600" cy="24000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/>
              </a:rPr>
              <a:t>XGBoost ★           </a:t>
            </a:r>
            <a:r>
              <a:rPr lang="en-US" sz="1200" dirty="0">
                <a:solidFill>
                  <a:srgbClr val="4ADE80"/>
                </a:solidFill>
                <a:latin typeface="Calibri"/>
              </a:rPr>
              <a:t>54.65%     48.71%     +0.47         -0.29         1,010d  0.1%</a:t>
            </a:r>
          </a:p>
        </p:txBody>
      </p:sp>
      <p:sp>
        <p:nvSpPr>
          <p:cNvPr id="7" name="row2"/>
          <p:cNvSpPr/>
          <p:nvPr/>
        </p:nvSpPr>
        <p:spPr>
          <a:xfrm>
            <a:off x="457200" y="1800000"/>
            <a:ext cx="8229600" cy="24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/>
              </a:rPr>
              <a:t>LSTM                53.50%     50.00%     +0.52         +0.29         1,000d  0.1%</a:t>
            </a:r>
          </a:p>
        </p:txBody>
      </p:sp>
      <p:sp>
        <p:nvSpPr>
          <p:cNvPr id="8" name="row3"/>
          <p:cNvSpPr/>
          <p:nvPr/>
        </p:nvSpPr>
        <p:spPr>
          <a:xfrm>
            <a:off x="457200" y="2040000"/>
            <a:ext cx="8229600" cy="24000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/>
              </a:rPr>
              <a:t>Logistic Reg.       50.99%     50.59%     -1.10         -0.53         1,010d  0.1%</a:t>
            </a:r>
          </a:p>
        </p:txBody>
      </p:sp>
      <p:sp>
        <p:nvSpPr>
          <p:cNvPr id="9" name="row4"/>
          <p:cNvSpPr/>
          <p:nvPr/>
        </p:nvSpPr>
        <p:spPr>
          <a:xfrm>
            <a:off x="457200" y="2280000"/>
            <a:ext cx="8229600" cy="24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/>
              </a:rPr>
              <a:t>Random Forest       51.39%     46.73%     -0.98         -0.72         1,010d  0.1%</a:t>
            </a:r>
          </a:p>
        </p:txBody>
      </p:sp>
      <p:sp>
        <p:nvSpPr>
          <p:cNvPr id="10" name="row5"/>
          <p:cNvSpPr/>
          <p:nvPr/>
        </p:nvSpPr>
        <p:spPr>
          <a:xfrm>
            <a:off x="457200" y="2520000"/>
            <a:ext cx="8229600" cy="24000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/>
              </a:rPr>
              <a:t>ARIMA(5,1,0)        48.00%     56.00%     N/A           N/A           Last 100d  —</a:t>
            </a:r>
          </a:p>
        </p:txBody>
      </p:sp>
      <p:sp>
        <p:nvSpPr>
          <p:cNvPr id="11" name="s2hdr"/>
          <p:cNvSpPr/>
          <p:nvPr/>
        </p:nvSpPr>
        <p:spPr>
          <a:xfrm>
            <a:off x="457200" y="2900000"/>
            <a:ext cx="3755204" cy="2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/>
              </a:rPr>
              <a:t>B. Granger Causality — XLK Significant Features</a:t>
            </a:r>
          </a:p>
        </p:txBody>
      </p:sp>
      <p:sp>
        <p:nvSpPr>
          <p:cNvPr id="12" name="grangertbl"/>
          <p:cNvSpPr/>
          <p:nvPr/>
        </p:nvSpPr>
        <p:spPr>
          <a:xfrm>
            <a:off x="457200" y="3180000"/>
            <a:ext cx="3755204" cy="134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91440" tIns="6096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/>
              </a:rPr>
              <a:t>Feature                   Lag    p-value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alibri"/>
              </a:rPr>
              <a:t>Sentiment_LM / _Raw        4d     0.0432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alibri"/>
              </a:rPr>
              <a:t>Sentiment_MA3              2d     0.0196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alibri"/>
              </a:rPr>
              <a:t>Sentiment_MA10             4d     0.0296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alibri"/>
              </a:rPr>
              <a:t>Sentiment_Vol / _Std10     1d     0.0281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/>
              </a:rPr>
              <a:t>All XLF features (11)      —      &gt; 0.05</a:t>
            </a:r>
          </a:p>
        </p:txBody>
      </p:sp>
      <p:sp>
        <p:nvSpPr>
          <p:cNvPr id="13" name="s3hdr"/>
          <p:cNvSpPr/>
          <p:nvPr/>
        </p:nvSpPr>
        <p:spPr>
          <a:xfrm>
            <a:off x="4937760" y="2900000"/>
            <a:ext cx="3755204" cy="2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/>
              </a:rPr>
              <a:t>C. H2 McNemar Test Results</a:t>
            </a:r>
          </a:p>
        </p:txBody>
      </p:sp>
      <p:sp>
        <p:nvSpPr>
          <p:cNvPr id="14" name="mcnemarbl"/>
          <p:cNvSpPr/>
          <p:nvPr/>
        </p:nvSpPr>
        <p:spPr>
          <a:xfrm>
            <a:off x="4937760" y="3180000"/>
            <a:ext cx="3755204" cy="134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91440" tIns="6096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/>
              </a:rPr>
              <a:t>Sector   Model      Baseline   Full     Δ      p-value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XLK      XGBoost    55.05%    53.17%  -1.88pp  0.1213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XLF      XGBoost    49.70%    48.81%  -0.89pp  0.5065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XLK      LSTM       47.64%    54.08%  +6.44pp  0.1636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/>
              </a:rPr>
              <a:t>XLF      LSTM       55.79%    52.36%  -3.43pp  0.3960</a:t>
            </a:r>
          </a:p>
        </p:txBody>
      </p:sp>
      <p:sp>
        <p:nvSpPr>
          <p:cNvPr id="16" name="Divider">
            <a:extLst>
              <a:ext uri="{FF2B5EF4-FFF2-40B4-BE49-F238E27FC236}">
                <a16:creationId xmlns:a16="http://schemas.microsoft.com/office/drawing/2014/main" id="{20392E39-441F-5AA5-A330-A69679A68187}"/>
              </a:ext>
            </a:extLst>
          </p:cNvPr>
          <p:cNvSpPr/>
          <p:nvPr/>
        </p:nvSpPr>
        <p:spPr>
          <a:xfrm>
            <a:off x="457200" y="620000"/>
            <a:ext cx="8229600" cy="28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ageNum">
            <a:extLst>
              <a:ext uri="{FF2B5EF4-FFF2-40B4-BE49-F238E27FC236}">
                <a16:creationId xmlns:a16="http://schemas.microsoft.com/office/drawing/2014/main" id="{1023119C-F109-A39E-56B9-920452487728}"/>
              </a:ext>
            </a:extLst>
          </p:cNvPr>
          <p:cNvSpPr/>
          <p:nvPr/>
        </p:nvSpPr>
        <p:spPr>
          <a:xfrm>
            <a:off x="8686800" y="478446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B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190000"/>
            <a:ext cx="8229600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Divider"/>
          <p:cNvSpPr/>
          <p:nvPr/>
        </p:nvSpPr>
        <p:spPr>
          <a:xfrm>
            <a:off x="457200" y="620000"/>
            <a:ext cx="8229600" cy="28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1Header"/>
          <p:cNvSpPr/>
          <p:nvPr/>
        </p:nvSpPr>
        <p:spPr>
          <a:xfrm>
            <a:off x="457200" y="797624"/>
            <a:ext cx="8229600" cy="240000"/>
          </a:xfrm>
          <a:prstGeom prst="rect">
            <a:avLst/>
          </a:prstGeom>
          <a:solidFill>
            <a:srgbClr val="0A2A4A"/>
          </a:solidFill>
          <a:ln w="12700">
            <a:solidFill>
              <a:srgbClr val="06B6D4"/>
            </a:solidFill>
          </a:ln>
        </p:spPr>
        <p:txBody>
          <a:bodyPr lIns="9144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📊 Sentiment Pipeline Params</a:t>
            </a:r>
          </a:p>
        </p:txBody>
      </p:sp>
      <p:sp>
        <p:nvSpPr>
          <p:cNvPr id="6" name="S1Body"/>
          <p:cNvSpPr/>
          <p:nvPr/>
        </p:nvSpPr>
        <p:spPr>
          <a:xfrm>
            <a:off x="457200" y="1049939"/>
            <a:ext cx="8229600" cy="1098317"/>
          </a:xfrm>
          <a:prstGeom prst="rect">
            <a:avLst/>
          </a:prstGeom>
          <a:solidFill>
            <a:srgbClr val="0A1A2E"/>
          </a:solidFill>
          <a:ln w="9525">
            <a:solidFill>
              <a:srgbClr val="1E3A5F"/>
            </a:solidFill>
          </a:ln>
        </p:spPr>
        <p:txBody>
          <a:bodyPr lIns="91440" tIns="91440" rIns="91440" bIns="60960" anchor="t"/>
          <a:lstStyle/>
          <a:p>
            <a:pPr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Pipeline 1 — Sparse NB                                                                                                   </a:t>
            </a:r>
            <a:r>
              <a:rPr lang="en-US" altLang="zh-CN" sz="1000" b="1" dirty="0">
                <a:solidFill>
                  <a:srgbClr val="F0B429"/>
                </a:solidFill>
              </a:rPr>
              <a:t>Pipeline 2 — Dense SVM ★ WINNER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C8D8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A9B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TF-IDF max_features=3000, ngram=(1,2), NB alpha=</a:t>
            </a:r>
            <a:r>
              <a:rPr lang="en-US" sz="950" dirty="0">
                <a:solidFill>
                  <a:srgbClr val="8A9BB8"/>
                </a:solidFill>
                <a:latin typeface="Calibri"/>
              </a:rPr>
              <a:t>1.0                                                   </a:t>
            </a:r>
            <a:r>
              <a:rPr lang="en-US" altLang="zh-CN" sz="950" dirty="0">
                <a:solidFill>
                  <a:srgbClr val="8A9BB8"/>
                </a:solidFill>
                <a:latin typeface="Calibri"/>
              </a:rPr>
              <a:t>TF-IDF max=5000 → SVD n=100 → SVM C=1.0, kernel=</a:t>
            </a:r>
            <a:r>
              <a:rPr lang="en-US" altLang="zh-CN" sz="950" dirty="0" err="1">
                <a:solidFill>
                  <a:srgbClr val="8A9BB8"/>
                </a:solidFill>
                <a:latin typeface="Calibri"/>
              </a:rPr>
              <a:t>rbf</a:t>
            </a:r>
            <a:endParaRPr lang="en-US" altLang="zh-CN" sz="950" dirty="0">
              <a:solidFill>
                <a:srgbClr val="8A9BB8"/>
              </a:solidFill>
              <a:latin typeface="Calibri"/>
            </a:endParaRPr>
          </a:p>
          <a:p>
            <a:pPr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Pipeline 3 — LDA + 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C8D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XGBoost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                                                              </a:t>
            </a:r>
            <a:r>
              <a:rPr lang="en-US" altLang="zh-CN" sz="1000" b="1" dirty="0">
                <a:solidFill>
                  <a:srgbClr val="C8D8F0"/>
                </a:solidFill>
              </a:rPr>
              <a:t>Pipeline 4 — Word2Vec + </a:t>
            </a:r>
            <a:r>
              <a:rPr lang="en-US" altLang="zh-CN" sz="1000" b="1" dirty="0" err="1">
                <a:solidFill>
                  <a:srgbClr val="C8D8F0"/>
                </a:solidFill>
              </a:rPr>
              <a:t>XGBoost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C8D8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A9B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TF-IDF → LDA n_topics=30, XGB max_depth=3,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8A9B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lr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A9B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  <a:r>
              <a:rPr lang="en-US" sz="950" dirty="0">
                <a:solidFill>
                  <a:srgbClr val="8A9BB8"/>
                </a:solidFill>
                <a:latin typeface="Calibri"/>
              </a:rPr>
              <a:t>0.1                                                      </a:t>
            </a:r>
            <a:r>
              <a:rPr lang="en-US" altLang="zh-CN" sz="950" dirty="0">
                <a:solidFill>
                  <a:srgbClr val="8A9BB8"/>
                </a:solidFill>
                <a:latin typeface="Calibri"/>
              </a:rPr>
              <a:t>W2V vector=100, window=5 → XGB </a:t>
            </a:r>
            <a:r>
              <a:rPr lang="en-US" altLang="zh-CN" sz="950" dirty="0" err="1">
                <a:solidFill>
                  <a:srgbClr val="8A9BB8"/>
                </a:solidFill>
                <a:latin typeface="Calibri"/>
              </a:rPr>
              <a:t>max_depth</a:t>
            </a:r>
            <a:r>
              <a:rPr lang="en-US" altLang="zh-CN" sz="950" dirty="0">
                <a:solidFill>
                  <a:srgbClr val="8A9BB8"/>
                </a:solidFill>
                <a:latin typeface="Calibri"/>
              </a:rPr>
              <a:t>=3, </a:t>
            </a:r>
            <a:r>
              <a:rPr lang="en-US" altLang="zh-CN" sz="950" dirty="0" err="1">
                <a:solidFill>
                  <a:srgbClr val="8A9BB8"/>
                </a:solidFill>
                <a:latin typeface="Calibri"/>
              </a:rPr>
              <a:t>lr</a:t>
            </a:r>
            <a:r>
              <a:rPr lang="en-US" altLang="zh-CN" sz="950" dirty="0">
                <a:solidFill>
                  <a:srgbClr val="8A9BB8"/>
                </a:solidFill>
                <a:latin typeface="Calibri"/>
              </a:rPr>
              <a:t>=0.1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4Header"/>
          <p:cNvSpPr/>
          <p:nvPr/>
        </p:nvSpPr>
        <p:spPr>
          <a:xfrm>
            <a:off x="457200" y="2348594"/>
            <a:ext cx="3931920" cy="220000"/>
          </a:xfrm>
          <a:prstGeom prst="rect">
            <a:avLst/>
          </a:prstGeom>
          <a:solidFill>
            <a:srgbClr val="0A2A4A"/>
          </a:solidFill>
          <a:ln w="12700">
            <a:solidFill>
              <a:srgbClr val="06B6D4"/>
            </a:solidFill>
          </a:ln>
        </p:spPr>
        <p:txBody>
          <a:bodyPr lIns="9144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⚙️ XGBoost Best Params (from GridSearchCV)</a:t>
            </a:r>
          </a:p>
        </p:txBody>
      </p:sp>
      <p:sp>
        <p:nvSpPr>
          <p:cNvPr id="12" name="S4Body"/>
          <p:cNvSpPr/>
          <p:nvPr/>
        </p:nvSpPr>
        <p:spPr>
          <a:xfrm>
            <a:off x="457200" y="2671007"/>
            <a:ext cx="3931920" cy="1362233"/>
          </a:xfrm>
          <a:prstGeom prst="rect">
            <a:avLst/>
          </a:prstGeom>
          <a:solidFill>
            <a:srgbClr val="0A1A2E"/>
          </a:solidFill>
          <a:ln w="9525">
            <a:solidFill>
              <a:srgbClr val="1E3A5F"/>
            </a:solidFill>
          </a:ln>
        </p:spPr>
        <p:txBody>
          <a:bodyPr lIns="91440" tIns="60960" rIns="91440" bIns="6096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8D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max_depth=5  |  learning_rate=0.05  |  n_estimators=200  |  subsample=0.8  |  colsample_bytree=0.8  |  gamma=0  |  CV: TimeSeriesSplit(n=3)  |  Retrain every 20 days  |  Train window: 252 days</a:t>
            </a:r>
          </a:p>
        </p:txBody>
      </p:sp>
      <p:sp>
        <p:nvSpPr>
          <p:cNvPr id="13" name="S5Header"/>
          <p:cNvSpPr/>
          <p:nvPr/>
        </p:nvSpPr>
        <p:spPr>
          <a:xfrm>
            <a:off x="4938480" y="2335048"/>
            <a:ext cx="3803040" cy="220000"/>
          </a:xfrm>
          <a:prstGeom prst="rect">
            <a:avLst/>
          </a:prstGeom>
          <a:solidFill>
            <a:srgbClr val="0A2A4A"/>
          </a:solidFill>
          <a:ln w="12700">
            <a:solidFill>
              <a:srgbClr val="A78BFA"/>
            </a:solidFill>
          </a:ln>
        </p:spPr>
        <p:txBody>
          <a:bodyPr lIns="9144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🧠 LSTM Best Params</a:t>
            </a:r>
          </a:p>
        </p:txBody>
      </p:sp>
      <p:sp>
        <p:nvSpPr>
          <p:cNvPr id="14" name="S5Body"/>
          <p:cNvSpPr/>
          <p:nvPr/>
        </p:nvSpPr>
        <p:spPr>
          <a:xfrm>
            <a:off x="4938480" y="2671007"/>
            <a:ext cx="3803040" cy="1362232"/>
          </a:xfrm>
          <a:prstGeom prst="rect">
            <a:avLst/>
          </a:prstGeom>
          <a:solidFill>
            <a:srgbClr val="0A1A2E"/>
          </a:solidFill>
          <a:ln w="9525">
            <a:solidFill>
              <a:srgbClr val="1E3A5F"/>
            </a:solidFill>
          </a:ln>
        </p:spPr>
        <p:txBody>
          <a:bodyPr lIns="91440" tIns="60960" rIns="91440" bIns="6096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8D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units=64  |  dropout=0.2  |  lookback=10 days  |  batch=32  |  lr=0.001  |  Early stopping patience=3 (val_loss)  |  20% validation split  |  Retrain every 126 days</a:t>
            </a:r>
          </a:p>
        </p:txBody>
      </p:sp>
      <p:sp>
        <p:nvSpPr>
          <p:cNvPr id="15" name="BottomNote"/>
          <p:cNvSpPr/>
          <p:nvPr/>
        </p:nvSpPr>
        <p:spPr>
          <a:xfrm>
            <a:off x="457200" y="4442408"/>
            <a:ext cx="8686800" cy="400000"/>
          </a:xfrm>
          <a:prstGeom prst="rect">
            <a:avLst/>
          </a:prstGeom>
          <a:solidFill>
            <a:srgbClr val="0A1A2E"/>
          </a:solidFill>
          <a:ln w="9525">
            <a:solidFill>
              <a:srgbClr val="334455"/>
            </a:solidFill>
          </a:ln>
        </p:spPr>
        <p:txBody>
          <a:bodyPr lIns="182880" tIns="60960" rIns="182880" bIns="6096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A9B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 implementation available at: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github.com/yeyouya2-eng/News-Sentiment-Stock-Prediction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A9B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|  Full methodology: Report Section 2.3–2.5</a:t>
            </a:r>
          </a:p>
        </p:txBody>
      </p:sp>
      <p:sp>
        <p:nvSpPr>
          <p:cNvPr id="16" name="PageNum"/>
          <p:cNvSpPr/>
          <p:nvPr/>
        </p:nvSpPr>
        <p:spPr>
          <a:xfrm>
            <a:off x="8686800" y="478446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B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17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D6E683-DBD9-E476-EF7E-63D525A81074}"/>
              </a:ext>
            </a:extLst>
          </p:cNvPr>
          <p:cNvSpPr txBox="1"/>
          <p:nvPr/>
        </p:nvSpPr>
        <p:spPr>
          <a:xfrm>
            <a:off x="457200" y="84716"/>
            <a:ext cx="8532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Calibri"/>
              </a:rPr>
              <a:t>Appendix 2 — </a:t>
            </a:r>
            <a:r>
              <a:rPr lang="en-US" altLang="zh-CN" sz="2700" dirty="0">
                <a:solidFill>
                  <a:schemeClr val="bg1"/>
                </a:solidFill>
              </a:rPr>
              <a:t>Hyperparameters &amp; Pipeline Configurations</a:t>
            </a:r>
            <a:endParaRPr lang="en-US" altLang="zh-CN" sz="2700" b="1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2154</Words>
  <Application>Microsoft Office PowerPoint</Application>
  <PresentationFormat>全屏显示(16:9)</PresentationFormat>
  <Paragraphs>300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 Sentiment and Directional Price Forecasting</dc:title>
  <dc:subject>PptxGenJS Presentation</dc:subject>
  <dc:creator>YE Yongyi</dc:creator>
  <cp:lastModifiedBy>yyi y</cp:lastModifiedBy>
  <cp:revision>26</cp:revision>
  <dcterms:created xsi:type="dcterms:W3CDTF">2026-03-27T07:45:25Z</dcterms:created>
  <dcterms:modified xsi:type="dcterms:W3CDTF">2026-05-07T12:30:49Z</dcterms:modified>
</cp:coreProperties>
</file>